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1" r:id="rId2"/>
  </p:sldMasterIdLst>
  <p:notesMasterIdLst>
    <p:notesMasterId r:id="rId10"/>
  </p:notesMasterIdLst>
  <p:sldIdLst>
    <p:sldId id="2147474090" r:id="rId3"/>
    <p:sldId id="257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CC805-E335-4D58-8E28-345773987620}" v="8" dt="2026-08-12T10:25:20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88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6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24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28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359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6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65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1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924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70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361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09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85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196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3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193487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6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9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9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1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3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04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855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03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618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19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523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6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298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1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9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122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322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73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1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50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8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4141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7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503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9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0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6B39-7429-FECB-C856-10FBD328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EA5A-4D9B-B37D-0C28-EF9CEDFB4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D9EA-7C74-6F64-4C57-6A98632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B2-7168-4F15-A039-2A61F3B5166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6A33-4108-EAE0-DD74-E71ECDA5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3A5-A999-88AE-5B87-B6481FA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596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088D-5C3F-38FC-2F05-0274CDA25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170704-99A4-6D39-B6D4-ACC22B80E6A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C1DE-9F44-FEE0-CEC9-2F039E22727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3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61D5B2-7168-4F15-A039-2A61F3B5166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B619-41E6-3EC5-BED3-4E431A37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Reference Deck - [Solution Name]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8A95-265D-6486-662A-193FF82B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Idea Title:</a:t>
            </a:r>
          </a:p>
          <a:p>
            <a:r>
              <a:rPr lang="en-IN"/>
              <a:t>Team name: </a:t>
            </a:r>
          </a:p>
          <a:p>
            <a:r>
              <a:rPr lang="en-IN"/>
              <a:t>(Other relevant details)</a:t>
            </a:r>
          </a:p>
        </p:txBody>
      </p:sp>
    </p:spTree>
    <p:extLst>
      <p:ext uri="{BB962C8B-B14F-4D97-AF65-F5344CB8AC3E}">
        <p14:creationId xmlns:p14="http://schemas.microsoft.com/office/powerpoint/2010/main" val="22262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Opportunity, Champions &amp; Core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Life insurers spend significant time manually reviewing fragmented medical, lab, policy documents, which delays decisions and creates inconsistent case summaries.</a:t>
            </a:r>
          </a:p>
          <a:p>
            <a:r>
              <a:rPr lang="en-US" sz="1400" dirty="0"/>
              <a:t>AI automates evidence extraction and creates traceable Decision Packets, enabling faster, more consistent, and human-reviewed underwriting decisions.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Champions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1 — title / business unit]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2 — title / business unit]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leaders sponsoring this idea (VP+)]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Kr. Yadav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 Rajagopal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Syed Qurshid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Kumari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 — How It Works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Automates manual document review and decision-packet creation, producing a faster, evidence-cited, human-reviewed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/ Input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Inputs include: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Application &amp; policy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APS/medical records, lab reports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Medication history, application forms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Birth/Death certificates, and examiner notes—sourced from insurer core systems, document repositories, medical-record vendors, labs, agents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02152" y="3703320"/>
            <a:ext cx="2551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Claude AI classifies and selects relevant documents,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extracts key medical, lab, policy, and other facts, then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validates completeness, source citations, confidence scores, and contradictions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Then generates the Decision Packet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Assist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reviewer-ready Decision Packet containing a case 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Extracted findings, medical/claims timeline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Source citations, confidence and conflict flags, applicable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Recommended next action, and a human-review/override option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/ Action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149080" y="3694176"/>
            <a:ext cx="2679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Life UW outcomes commonly include approval, approval with higher premiums or exclusions, and rejection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Issue / approve as applied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Issue with modified terms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Refer for underwriter or specialist review</a:t>
            </a:r>
            <a:r>
              <a:rPr lang="en-US" sz="1200" dirty="0"/>
              <a:t> </a:t>
            </a:r>
            <a:r>
              <a:rPr lang="en-US" sz="1200" b="1" dirty="0"/>
              <a:t>Request additional information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Defer / hold</a:t>
            </a:r>
            <a:r>
              <a:rPr lang="en-US" sz="1200" dirty="0"/>
              <a:t> — conflicting, incomplete, </a:t>
            </a:r>
            <a:r>
              <a:rPr lang="en-US" sz="1200" b="1" dirty="0"/>
              <a:t>Decline / deny 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282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Ingestion &amp; data sources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8915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Secure APIs, batch/file connectors, and event-driven feeds ingest data from policy administration, underwriting systems, document-management platforms, CRM/agent portals, medical-record vendors, lab providers, and external data sources. </a:t>
            </a:r>
          </a:p>
          <a:p>
            <a:r>
              <a:rPr lang="en-US" sz="1200" dirty="0"/>
              <a:t>Documents such as APS, lab reports, applications forms, death certificates, and case notes are received in real time or batch mode for processing.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2770632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 &amp; AI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2788920"/>
            <a:ext cx="9006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OCR converts scanned documents into machine-readable 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Claude-based NLP extracts and summarizes medical, lab, policy information; validation models detect missing or conflicting evidence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version-controlled rules engine applies carrier-approved guidelines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 orchestration layer routes cases, generates Decision Packets, Triggers human review, referrals, or targeted information requests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3941064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&amp; storage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2651760" y="3931920"/>
            <a:ext cx="90342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platform generates evidence-cited decision assistance—issue, modify terms, refer, request information, defer, investigate, or deny recommendations—for authorized underwriter review.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Final decisions, source evidence, rule/model versions, reviewer feedback and overrides, and outcome data are stored in a secure audit repository to support reporting, governance, and continuous improvement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5111496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5239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&amp; delivery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2651760" y="5111496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secure web portal provides underwriters with role-based access to Decision Packets, source evidence, recommendations, and review/override actions.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supports enterprise authentication/SSO, operational and audit reporting, case-status notifications, and dispute or appeal workflows with complete evidence and decision-history access.</a:t>
            </a:r>
          </a:p>
        </p:txBody>
      </p:sp>
      <p:sp>
        <p:nvSpPr>
          <p:cNvPr id="16" name="Text 14"/>
          <p:cNvSpPr/>
          <p:nvPr/>
        </p:nvSpPr>
        <p:spPr>
          <a:xfrm>
            <a:off x="502920" y="63002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replace with your own architecture diagram if you have one.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&amp; Where It Will Be Deployed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532888" y="1600200"/>
            <a:ext cx="9125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Deploy as a secure cloud-native solution in the client’s </a:t>
            </a:r>
            <a:r>
              <a:rPr lang="en-US" sz="1200" b="1" dirty="0"/>
              <a:t>AWS/Azure/GCP tenant and private VPC</a:t>
            </a:r>
            <a:r>
              <a:rPr lang="en-US" sz="12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Optional hybrid connectivity to on-premises policy, and document-management systems.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 highly regulated clients, sensitive data and processing can remain within the client’s premises or approved private-cloud environment.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2532888" y="2468880"/>
            <a:ext cx="9153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Connects to client policy administration, underwriting, CRM, document-management, identity, and data-platform systems through secure REST </a:t>
            </a:r>
            <a:r>
              <a:rPr lang="en-US" sz="1200" b="1" dirty="0"/>
              <a:t>APIs, event/webhook streams</a:t>
            </a:r>
            <a:r>
              <a:rPr lang="en-US" sz="1200" dirty="0"/>
              <a:t>, enterprise connectors, and encrypted batch-file exchanges.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reads source documents and case data, returns Decision Packets and workflow statuses, and writes final reviewer decisions and audit metadata back to approved client systems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532888" y="3520440"/>
            <a:ext cx="9153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Protects PII/PHI using encryption in transit and at rest, private-network controls, role-based access, SSO/MFA, data minimization, masking/tokenization, retention policies, and secure vendor/model configurations.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Immutable audit logs retain source evidence, user actions, AI outputs, prompt/model and rule versions, reviewer overrides, and final decisions to support HIPAA-aligned safeguards, insurer AI governance, regulatory review, and fair-decision monitoring.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Rollout approach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32888" y="4480560"/>
            <a:ext cx="9153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Start with a controlled pilot for one underwriting product using historical and limited live cases; validate extraction accuracy, reviewer acceptance, turnaround-time improvement, and governance controls.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Expand in phases to additional document types, products, and workflows, then scale enterprise-wide through system integrations, monitoring dashboards, user training, and a managed support model covering platform operations, prompt/rule updates, model evaluation, incident response, and continuous improvement.</a:t>
            </a:r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&amp; support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624328" y="5440680"/>
            <a:ext cx="9061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EXL can own the </a:t>
            </a:r>
            <a:r>
              <a:rPr lang="en-US" sz="1200" b="1" dirty="0"/>
              <a:t>technology delivery and support layer</a:t>
            </a:r>
            <a:r>
              <a:rPr lang="en-US" sz="1200" dirty="0"/>
              <a:t>: platform operations, integrations, model/prompt maintenance, monitoring, enhancements, and managed services under an agreed support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client should own the final business decision and Decision Packet outcome</a:t>
            </a:r>
            <a:r>
              <a:rPr lang="en-US" sz="1200" dirty="0"/>
              <a:t>—their underwriters, compliance, and business-rule owners remain accountable.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IDENTIFIED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Will Deploy &amp; Sell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targets — </a:t>
            </a:r>
            <a:r>
              <a:rPr lang="en-US" sz="14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&amp; Annuities Insurance Clients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clients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A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B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logos / pipeline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A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B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[Partner / channel]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[Co-develop opportunity]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Strategy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Positioning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EXL is positioned in this space]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&amp; channel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[Dedicated team / partners / co-develop]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[Usage / SaaS / outcome-based / transaction]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marketing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[Webinars, events, thought leadership]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68B02986-82C5-4061-A57C-C8B87125180A}" vid="{4677AF4B-9B33-4684-B6BB-99EE4D7BDE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1060</Words>
  <Application>Microsoft Office PowerPoint</Application>
  <PresentationFormat>Widescreen</PresentationFormat>
  <Paragraphs>113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System Font Regular</vt:lpstr>
      <vt:lpstr>1_Office Theme</vt:lpstr>
      <vt:lpstr>EXL</vt:lpstr>
      <vt:lpstr>Reference Deck - [Solution Name]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Vinayak Chopra</dc:creator>
  <cp:lastModifiedBy>Atul Kumar Yadav</cp:lastModifiedBy>
  <cp:revision>25</cp:revision>
  <dcterms:created xsi:type="dcterms:W3CDTF">2026-08-12T10:03:27Z</dcterms:created>
  <dcterms:modified xsi:type="dcterms:W3CDTF">2026-08-16T03:35:03Z</dcterms:modified>
</cp:coreProperties>
</file>