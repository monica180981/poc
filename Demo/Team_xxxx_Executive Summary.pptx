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14747408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2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92" userDrawn="1">
          <p15:clr>
            <a:srgbClr val="A4A3A4"/>
          </p15:clr>
        </p15:guide>
        <p15:guide id="7" pos="288" userDrawn="1">
          <p15:clr>
            <a:srgbClr val="A4A3A4"/>
          </p15:clr>
        </p15:guide>
        <p15:guide id="8" pos="216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4E0B"/>
    <a:srgbClr val="004EFF"/>
    <a:srgbClr val="E5EDFF"/>
    <a:srgbClr val="C0D2FF"/>
    <a:srgbClr val="83A8FF"/>
    <a:srgbClr val="407AFF"/>
    <a:srgbClr val="000000"/>
    <a:srgbClr val="424242"/>
    <a:srgbClr val="FF40FF"/>
    <a:srgbClr val="FFB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3792" autoAdjust="0"/>
  </p:normalViewPr>
  <p:slideViewPr>
    <p:cSldViewPr snapToGrid="0" snapToObjects="1">
      <p:cViewPr varScale="1">
        <p:scale>
          <a:sx n="74" d="100"/>
          <a:sy n="74" d="100"/>
        </p:scale>
        <p:origin x="376" y="72"/>
      </p:cViewPr>
      <p:guideLst>
        <p:guide orient="horz" pos="4128"/>
        <p:guide pos="3840"/>
        <p:guide pos="7392"/>
        <p:guide pos="288"/>
        <p:guide pos="2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306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561233-45DC-0946-2455-02C93F71AD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A0130-1F16-3354-5317-EAAD29FFB5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917C0-D42B-47D1-A861-215602EF8B73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E4F27-4BF2-3909-3638-05880831A7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71824-2436-611A-E077-B0450E3664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FE844-F6AC-4291-8AAC-EA3323234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82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D9FB6-F063-5E4C-8E15-DE2BAD5FDB90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41F17-4160-ED44-996C-2E44614D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7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55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47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16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34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446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65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975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2087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2934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65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90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4595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4141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14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1992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4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3004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915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923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75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712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884971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801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665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 userDrawn="1"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1596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6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3797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14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66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405915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639860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767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©2024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0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61" r:id="rId3"/>
    <p:sldLayoutId id="2147483675" r:id="rId4"/>
    <p:sldLayoutId id="2147483677" r:id="rId5"/>
    <p:sldLayoutId id="2147483727" r:id="rId6"/>
    <p:sldLayoutId id="2147483678" r:id="rId7"/>
    <p:sldLayoutId id="2147483681" r:id="rId8"/>
    <p:sldLayoutId id="2147483728" r:id="rId9"/>
    <p:sldLayoutId id="2147483685" r:id="rId10"/>
    <p:sldLayoutId id="2147483729" r:id="rId11"/>
    <p:sldLayoutId id="2147483717" r:id="rId12"/>
    <p:sldLayoutId id="2147483731" r:id="rId13"/>
    <p:sldLayoutId id="2147483719" r:id="rId14"/>
    <p:sldLayoutId id="2147483733" r:id="rId15"/>
    <p:sldLayoutId id="2147483734" r:id="rId16"/>
    <p:sldLayoutId id="2147483735" r:id="rId17"/>
    <p:sldLayoutId id="2147483689" r:id="rId18"/>
    <p:sldLayoutId id="2147483736" r:id="rId19"/>
    <p:sldLayoutId id="2147483737" r:id="rId20"/>
    <p:sldLayoutId id="2147483738" r:id="rId21"/>
    <p:sldLayoutId id="2147483739" r:id="rId22"/>
    <p:sldLayoutId id="2147483701" r:id="rId23"/>
    <p:sldLayoutId id="2147483699" r:id="rId24"/>
    <p:sldLayoutId id="2147483741" r:id="rId25"/>
    <p:sldLayoutId id="2147483705" r:id="rId26"/>
    <p:sldLayoutId id="2147483708" r:id="rId27"/>
    <p:sldLayoutId id="2147483709" r:id="rId28"/>
    <p:sldLayoutId id="2147483710" r:id="rId29"/>
    <p:sldLayoutId id="2147483742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392" userDrawn="1">
          <p15:clr>
            <a:srgbClr val="F26B43"/>
          </p15:clr>
        </p15:guide>
        <p15:guide id="5" orient="horz" pos="4128" userDrawn="1">
          <p15:clr>
            <a:srgbClr val="F26B43"/>
          </p15:clr>
        </p15:guide>
        <p15:guide id="6" orient="horz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9E146-7BF6-CFEE-876F-BCE7A5D13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5035415-D23E-B767-13D8-836153D9A625}"/>
              </a:ext>
            </a:extLst>
          </p:cNvPr>
          <p:cNvSpPr/>
          <p:nvPr/>
        </p:nvSpPr>
        <p:spPr>
          <a:xfrm>
            <a:off x="396240" y="708024"/>
            <a:ext cx="11490960" cy="5621655"/>
          </a:xfrm>
          <a:prstGeom prst="roundRect">
            <a:avLst>
              <a:gd name="adj" fmla="val 271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8E70A7-7E6D-3E74-C6FF-57D42E121F53}"/>
              </a:ext>
            </a:extLst>
          </p:cNvPr>
          <p:cNvSpPr/>
          <p:nvPr/>
        </p:nvSpPr>
        <p:spPr>
          <a:xfrm>
            <a:off x="457199" y="823310"/>
            <a:ext cx="2265679" cy="208387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30C497-FA2F-3E20-C9F8-556AC2141F09}"/>
              </a:ext>
            </a:extLst>
          </p:cNvPr>
          <p:cNvSpPr txBox="1"/>
          <p:nvPr/>
        </p:nvSpPr>
        <p:spPr>
          <a:xfrm>
            <a:off x="494308" y="1022245"/>
            <a:ext cx="22285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L&amp;A insurance is moving from manual document review toward AI-assisted underwriting and claims operations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GenAI is now used to extract and summarize unstructured medical &amp; claims documents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For regulatory requirements Insurers need documented AI governance, validation, monitoring, and safeguards against unfair consumer outcomes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05B898-DCD8-3D45-4674-4D761F722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4925"/>
            <a:ext cx="11277600" cy="673100"/>
          </a:xfrm>
        </p:spPr>
        <p:txBody>
          <a:bodyPr anchor="ctr">
            <a:normAutofit/>
          </a:bodyPr>
          <a:lstStyle/>
          <a:p>
            <a:pPr>
              <a:buClr>
                <a:schemeClr val="tx2"/>
              </a:buClr>
            </a:pPr>
            <a:r>
              <a:rPr lang="en-US" b="1" dirty="0"/>
              <a:t>Decision packet automation for underwriting or claims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A02C5B34-4A75-B83B-14A1-70D7D3098386}"/>
              </a:ext>
            </a:extLst>
          </p:cNvPr>
          <p:cNvSpPr/>
          <p:nvPr/>
        </p:nvSpPr>
        <p:spPr>
          <a:xfrm>
            <a:off x="457199" y="718534"/>
            <a:ext cx="2294771" cy="244757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Industry Context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7F9B5F-0D38-B508-7DA1-4B2EE19EBCF7}"/>
              </a:ext>
            </a:extLst>
          </p:cNvPr>
          <p:cNvSpPr/>
          <p:nvPr/>
        </p:nvSpPr>
        <p:spPr>
          <a:xfrm>
            <a:off x="5171441" y="823309"/>
            <a:ext cx="6664956" cy="208387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537A2B6F-1ADF-A317-C542-BFC21409B8A9}"/>
              </a:ext>
            </a:extLst>
          </p:cNvPr>
          <p:cNvSpPr/>
          <p:nvPr/>
        </p:nvSpPr>
        <p:spPr>
          <a:xfrm>
            <a:off x="5171441" y="708374"/>
            <a:ext cx="6664956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Functional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10C64F-F9B6-E53F-E8EC-F7A9346B9E46}"/>
              </a:ext>
            </a:extLst>
          </p:cNvPr>
          <p:cNvSpPr/>
          <p:nvPr/>
        </p:nvSpPr>
        <p:spPr>
          <a:xfrm>
            <a:off x="457200" y="3781425"/>
            <a:ext cx="5638800" cy="24893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FBD6E125-1337-E2CA-2E5B-32FA1A11C058}"/>
              </a:ext>
            </a:extLst>
          </p:cNvPr>
          <p:cNvSpPr/>
          <p:nvPr/>
        </p:nvSpPr>
        <p:spPr>
          <a:xfrm>
            <a:off x="457200" y="3035014"/>
            <a:ext cx="563880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Technological Highlights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02A1DD-FDA8-A643-7A83-D80CD0790428}"/>
              </a:ext>
            </a:extLst>
          </p:cNvPr>
          <p:cNvSpPr/>
          <p:nvPr/>
        </p:nvSpPr>
        <p:spPr>
          <a:xfrm>
            <a:off x="6141720" y="3332655"/>
            <a:ext cx="5638800" cy="2938069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338CD8E-B644-BE1D-FBB8-9806FE5C69D9}"/>
              </a:ext>
            </a:extLst>
          </p:cNvPr>
          <p:cNvSpPr/>
          <p:nvPr/>
        </p:nvSpPr>
        <p:spPr>
          <a:xfrm>
            <a:off x="6187440" y="3035014"/>
            <a:ext cx="563880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Business Impact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23960F-013C-5118-26ED-B776A8842803}"/>
              </a:ext>
            </a:extLst>
          </p:cNvPr>
          <p:cNvSpPr/>
          <p:nvPr/>
        </p:nvSpPr>
        <p:spPr>
          <a:xfrm>
            <a:off x="2814320" y="823309"/>
            <a:ext cx="2306320" cy="2086809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023B3258-DBA5-C678-7904-0D69B0B463C4}"/>
              </a:ext>
            </a:extLst>
          </p:cNvPr>
          <p:cNvSpPr/>
          <p:nvPr/>
        </p:nvSpPr>
        <p:spPr>
          <a:xfrm>
            <a:off x="2814320" y="718534"/>
            <a:ext cx="230632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Client’s business problems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36C77E-5713-7D2D-656D-133C3933D230}"/>
              </a:ext>
            </a:extLst>
          </p:cNvPr>
          <p:cNvSpPr txBox="1"/>
          <p:nvPr/>
        </p:nvSpPr>
        <p:spPr>
          <a:xfrm>
            <a:off x="2824480" y="1036044"/>
            <a:ext cx="22219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 dirty="0"/>
              <a:t>Insurers commonly face: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High manual effort reviewing lengthy, unstructured medical and claims records.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Difficulty locating the evidence supporting a decision due to Fragmented information across docs.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Compliance risk when AI-supported decisions cannot be explained or audited.</a:t>
            </a:r>
          </a:p>
          <a:p>
            <a:pPr algn="just"/>
            <a:r>
              <a:rPr lang="en-US" sz="1000" dirty="0"/>
              <a:t>All these lead to process delays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DFC243-536C-6150-D603-6B3C8994D6DF}"/>
              </a:ext>
            </a:extLst>
          </p:cNvPr>
          <p:cNvSpPr txBox="1"/>
          <p:nvPr/>
        </p:nvSpPr>
        <p:spPr>
          <a:xfrm>
            <a:off x="5182988" y="1036044"/>
            <a:ext cx="67143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Solution</a:t>
            </a:r>
            <a:r>
              <a:rPr lang="en-US" sz="1000" dirty="0"/>
              <a:t>: Develop an AI-enabled, human-in-the-loop decision-support platform. Leverage: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Claude</a:t>
            </a:r>
            <a:r>
              <a:rPr lang="en-US" sz="1000" dirty="0"/>
              <a:t> for document extraction, medical summarization, evidence comparison, and packet generation. OCR/document-intelligence capabilities for scanned PDFs and images.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Retrieval-augmented generation (RAG) to ground AI output in approved carrier guidelines.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 normalized evidence model containing source, page, date, value, unit, confidence, and contradiction flags.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APIs or batch integration with policy administration, claims, workflow, document-management, and data-lake platforms.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Role-based security, audit logs, and reviewer-override controls.</a:t>
            </a:r>
          </a:p>
          <a:p>
            <a:r>
              <a:rPr lang="en-US" sz="10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Flow</a:t>
            </a:r>
            <a:r>
              <a:rPr lang="en-US" sz="10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: Ingest </a:t>
            </a:r>
            <a:r>
              <a:rPr lang="en-US" sz="100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docs</a:t>
            </a:r>
            <a:r>
              <a:rPr lang="en-US" sz="100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Extract</a:t>
            </a:r>
            <a:r>
              <a:rPr lang="en-US" sz="10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00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infoNormalizeValidateApply</a:t>
            </a:r>
            <a:r>
              <a:rPr lang="en-US" sz="10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US" sz="100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RulesGenerate</a:t>
            </a:r>
            <a:r>
              <a:rPr lang="en-US" sz="10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Recommendations Human Review  Audit</a:t>
            </a:r>
            <a:endParaRPr lang="en-US" sz="100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b="1" dirty="0"/>
              <a:t>EXL Sales teams</a:t>
            </a:r>
            <a:r>
              <a:rPr lang="en-US" sz="1000" dirty="0"/>
              <a:t> can use it to open conversations with: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Chief </a:t>
            </a:r>
            <a:r>
              <a:rPr lang="en-US" sz="1000" b="1" dirty="0"/>
              <a:t>Underwriting Officer </a:t>
            </a:r>
            <a:r>
              <a:rPr lang="en-US" sz="1000" dirty="0"/>
              <a:t>and Claims leaders seeking faster cycle times. </a:t>
            </a:r>
            <a:r>
              <a:rPr lang="en-US" sz="1000" b="1" dirty="0"/>
              <a:t>Operations leaders </a:t>
            </a:r>
            <a:r>
              <a:rPr lang="en-US" sz="1000" dirty="0"/>
              <a:t>addressing backlogs and staffing constraints. </a:t>
            </a:r>
            <a:r>
              <a:rPr lang="en-US" sz="1000" b="1" dirty="0"/>
              <a:t>CIO/data leaders </a:t>
            </a:r>
            <a:r>
              <a:rPr lang="en-US" sz="1000" dirty="0"/>
              <a:t>modernizing legacy document and workflow processes.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Risk, </a:t>
            </a:r>
            <a:r>
              <a:rPr lang="en-US" sz="1000" b="1" dirty="0"/>
              <a:t>compliance</a:t>
            </a:r>
            <a:r>
              <a:rPr lang="en-US" sz="1000" dirty="0"/>
              <a:t>, and </a:t>
            </a:r>
            <a:r>
              <a:rPr lang="en-US" sz="1000" b="1" dirty="0"/>
              <a:t>legal</a:t>
            </a:r>
            <a:r>
              <a:rPr lang="en-US" sz="1000" dirty="0"/>
              <a:t> teams seeking governed AI adoption.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AB0594-7691-D4C3-7254-1F2B99F93DCB}"/>
              </a:ext>
            </a:extLst>
          </p:cNvPr>
          <p:cNvSpPr txBox="1"/>
          <p:nvPr/>
        </p:nvSpPr>
        <p:spPr>
          <a:xfrm>
            <a:off x="457201" y="3157084"/>
            <a:ext cx="56387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b="1" dirty="0"/>
              <a:t>Core technologies used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Claude AI / LLM:</a:t>
            </a:r>
            <a:r>
              <a:rPr lang="en-US" sz="1000" dirty="0"/>
              <a:t> Extracts information &amp; generates evidence-cited summaries and Decision Packets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OCR and document intelligence:</a:t>
            </a:r>
            <a:r>
              <a:rPr lang="en-US" sz="1000" dirty="0"/>
              <a:t> Converts scanned PDFs and images into searchable text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Rules engine:</a:t>
            </a:r>
            <a:r>
              <a:rPr lang="en-US" sz="1000" dirty="0"/>
              <a:t> Applies carrier-approved underwriting rules in a controlled, versioned manner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Retrieval-augmented generation (RAG):</a:t>
            </a:r>
            <a:r>
              <a:rPr lang="en-US" sz="1000" dirty="0"/>
              <a:t> Retrieves relevant underwriting manuals, product guidelines, claims procedures, and policy rules before Claude generates its analysis.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Data platform:</a:t>
            </a:r>
            <a:r>
              <a:rPr lang="en-US" sz="1000" dirty="0"/>
              <a:t> Cloud data lake/warehouse for document metadata, extracted facts, decision history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Cloud platform:</a:t>
            </a:r>
            <a:r>
              <a:rPr lang="en-US" sz="1000" dirty="0"/>
              <a:t> AWS services such as S3 for document storage, Glue for ETL/data pipelines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Workflow automation:</a:t>
            </a:r>
            <a:r>
              <a:rPr lang="en-US" sz="1000" dirty="0"/>
              <a:t> Case routing, targeted evidence requests, senior-review referrals, task creation </a:t>
            </a:r>
            <a:r>
              <a:rPr lang="en-US" sz="1000" b="1" dirty="0"/>
              <a:t>Security and governance:</a:t>
            </a:r>
            <a:r>
              <a:rPr lang="en-US" sz="1000" dirty="0"/>
              <a:t> Role-based access, PII protection, encryption, model/prompt versioning, rules versioning, and complete audit logging.</a:t>
            </a:r>
          </a:p>
          <a:p>
            <a:endParaRPr lang="en-US" sz="1000" dirty="0"/>
          </a:p>
          <a:p>
            <a:r>
              <a:rPr lang="en-US" sz="1000" b="1" dirty="0"/>
              <a:t>Innovation factor: </a:t>
            </a:r>
            <a:r>
              <a:rPr lang="en-US" sz="1000" dirty="0"/>
              <a:t>The innovation is not simply using an LLM to summarize medical documents. It creates an </a:t>
            </a:r>
            <a:r>
              <a:rPr lang="en-US" sz="1000" b="1" dirty="0"/>
              <a:t>evidence-grounded decision-support workflow</a:t>
            </a:r>
            <a:r>
              <a:rPr lang="en-US" sz="1000" dirty="0"/>
              <a:t>.</a:t>
            </a:r>
          </a:p>
          <a:p>
            <a:r>
              <a:rPr lang="en-US" sz="1000" b="1" dirty="0"/>
              <a:t>Scalability: </a:t>
            </a:r>
            <a:r>
              <a:rPr lang="en-US" sz="1000" dirty="0"/>
              <a:t>The architecture can scale from a small proof of value to enterprise-wide processing.</a:t>
            </a:r>
          </a:p>
          <a:p>
            <a:r>
              <a:rPr lang="en-US" sz="1000" b="1" dirty="0"/>
              <a:t>Integration: </a:t>
            </a:r>
            <a:r>
              <a:rPr lang="en-US" sz="1000" dirty="0"/>
              <a:t>The solution can integrate with an insurer’s existing technology ecosystem through APIs, event-based processing, batch files, and secure data pipelines such as Policy administration systems, Underwriting workbenches, Claims management platforms, CRM and agents portals</a:t>
            </a:r>
          </a:p>
          <a:p>
            <a:endParaRPr 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3E3F34-D381-6176-D31C-2FB3AC8F7958}"/>
              </a:ext>
            </a:extLst>
          </p:cNvPr>
          <p:cNvSpPr txBox="1"/>
          <p:nvPr/>
        </p:nvSpPr>
        <p:spPr>
          <a:xfrm>
            <a:off x="6126480" y="3293584"/>
            <a:ext cx="5638799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This can generate both one-time project revenue and recurring managed-service revenue.</a:t>
            </a:r>
            <a:r>
              <a:rPr lang="en-US" sz="10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0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Stakeholder Value: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Underwriters</a:t>
            </a:r>
            <a:r>
              <a:rPr lang="en-US" sz="1000" dirty="0"/>
              <a:t>: Less time reading long APS and lab reports; a consistent, evidence-cited case summary;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Compliance and legal teams: </a:t>
            </a:r>
            <a:r>
              <a:rPr lang="en-US" sz="1000" dirty="0"/>
              <a:t>Traceable</a:t>
            </a:r>
            <a:r>
              <a:rPr lang="en-US" sz="1000" b="1" dirty="0"/>
              <a:t> </a:t>
            </a:r>
            <a:r>
              <a:rPr lang="en-US" sz="1000" dirty="0"/>
              <a:t>source evidence, version-controlled rules, AI-output records, reviewer overrides, and audit-ready documentation</a:t>
            </a:r>
            <a:endParaRPr lang="en-US" sz="100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CIO and data leaders: A </a:t>
            </a:r>
            <a:r>
              <a:rPr lang="en-US" sz="1000" dirty="0"/>
              <a:t>practical way to operationalize GenAI using existing cloud, workflow, security, and data-platform investments</a:t>
            </a:r>
          </a:p>
          <a:p>
            <a:r>
              <a:rPr lang="en-US" sz="1000" b="1" dirty="0"/>
              <a:t>Potential Impact: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Document review and packet-preparation time: </a:t>
            </a:r>
            <a:r>
              <a:rPr lang="en-US" sz="1000" b="1" dirty="0"/>
              <a:t>30–60% reduction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Underwriter/claims examiner productivity: </a:t>
            </a:r>
            <a:r>
              <a:rPr lang="en-US" sz="1000" b="1" dirty="0"/>
              <a:t>20–40% more cases </a:t>
            </a:r>
            <a:r>
              <a:rPr lang="en-US" sz="1000" dirty="0"/>
              <a:t>handled per reviewer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Case turnaround time25–50% reduction for eligible workflows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Evidence-search and case-summary effort50%+ reduction</a:t>
            </a:r>
          </a:p>
          <a:p>
            <a:r>
              <a:rPr lang="en-US" sz="1000" b="1" dirty="0"/>
              <a:t>Cost Structure and Pricing for client: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Claude/API or enterprise-model usage.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OCR and document-processing usage.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Cloud storage, compute, orchestration, logging, and monitoring.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Workflow, case-management, and integration-platform licenses where applicable.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Data-engineering, security, support, and model-governance resources.</a:t>
            </a:r>
          </a:p>
          <a:p>
            <a:endParaRPr lang="en-US" sz="1000" b="1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669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3" id="{75DB2D68-EB8A-4D47-9097-25EC9E13C876}" vid="{0310C97A-7711-40A4-A3F2-58B78CFBEC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</Template>
  <TotalTime>1674</TotalTime>
  <Words>678</Words>
  <Application>Microsoft Office PowerPoint</Application>
  <PresentationFormat>Widescreen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System Font Regular</vt:lpstr>
      <vt:lpstr>Office Theme</vt:lpstr>
      <vt:lpstr>Decision packet automation for underwriting or claims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Innovation Sprint</dc:title>
  <dc:creator>Grace Singh</dc:creator>
  <cp:lastModifiedBy>Atul Kumar Yadav</cp:lastModifiedBy>
  <cp:revision>45</cp:revision>
  <dcterms:created xsi:type="dcterms:W3CDTF">2024-06-06T10:38:18Z</dcterms:created>
  <dcterms:modified xsi:type="dcterms:W3CDTF">2026-08-15T04:57:11Z</dcterms:modified>
</cp:coreProperties>
</file>