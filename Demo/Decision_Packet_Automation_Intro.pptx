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Monica Rajagopal, from Team MARS, presenting Decision Packet Automation for Life Underwriting and Claims. The scope of this proof of concept is limited to underwriting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 insurers receive large volumes of unstructured information — medical reports, APS documents, lab results, applications, policy records, claim forms, death certificates and case notes. Today, underwriters and claims examiners spend significant time reading documents, locating key evidence, creating summaries, checking guidelines, and documenting their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uses Claude AI, document intelligence, OCR, and a configurable business-rules engine to automate the preparation of a complete, evidence-grounded Decision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begins when documents and case data are received. OCR converts scanned files into usable text, and Claude extracts relevant information. The solution then normalizes this into a structured evidence model. Next it checks whether the evidence is complete and consistent. For cases with sufficient evidence, it retrieves carrier-approved guidelines and applies them through a controlled rules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normalizes this information into a structured evidence model. Every key finding is linked back to its source document, page number, date, value, and confidence score. This creates a transparent medical or claims timeline that the reviewer can quickly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tool checks whether the evidence is complete and consistent. If information is missing, conflicting, outdated, or uncertain, the system does not make an unsupported recommendation. Instead, it creates a targeted request for the exact evidence needed and routes the case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creates a Decision Packet containing a case summary, relevant findings, source citations, triggered rules, required actions, and a recommended disposition. The underwriter or claims examiner remains in control. They can approve, modify, override, request additional information, or escalate the case to a senior underwriter, medical reviewer, SIU, or legal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helps insurers reduce manual document review, improve decision consistency, accelerate turnaround time, and create audit-ready documentation. It can begin as a focused proof of value and scale across underwriting and claims workflows. Decision Packet Automation turns fragmented insurance documents into a clear, traceable, and reviewer-ready decision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66928" y="2148840"/>
            <a:ext cx="10881360" cy="868680"/>
          </a:xfrm>
          <a:prstGeom prst="rect">
            <a:avLst/>
          </a:prstGeom>
          <a:noFill/>
          <a:ln/>
        </p:spPr>
        <p:txBody>
          <a:bodyPr wrap="square" lIns="0" tIns="0" rIns="0" bIns="0" rtlCol="0" anchor="ctr"/>
          <a:lstStyle/>
          <a:p>
            <a:pPr indent="0" marL="0">
              <a:buNone/>
            </a:pPr>
            <a:r>
              <a:rPr lang="en-US" sz="4800" dirty="0">
                <a:solidFill>
                  <a:srgbClr val="FB4E0B"/>
                </a:solidFill>
                <a:latin typeface="Calibri Light" pitchFamily="34" charset="0"/>
                <a:ea typeface="Calibri Light" pitchFamily="34" charset="-122"/>
                <a:cs typeface="Calibri Light" pitchFamily="34" charset="-120"/>
              </a:rPr>
              <a:t>Decision Packet Automation</a:t>
            </a:r>
            <a:endParaRPr lang="en-US" sz="4800" dirty="0"/>
          </a:p>
        </p:txBody>
      </p:sp>
      <p:sp>
        <p:nvSpPr>
          <p:cNvPr id="3" name="Text 1"/>
          <p:cNvSpPr/>
          <p:nvPr/>
        </p:nvSpPr>
        <p:spPr>
          <a:xfrm>
            <a:off x="566928" y="2962656"/>
            <a:ext cx="10881360" cy="640080"/>
          </a:xfrm>
          <a:prstGeom prst="rect">
            <a:avLst/>
          </a:prstGeom>
          <a:noFill/>
          <a:ln/>
        </p:spPr>
        <p:txBody>
          <a:bodyPr wrap="square" lIns="0" tIns="0" rIns="0" bIns="0" rtlCol="0" anchor="ctr"/>
          <a:lstStyle/>
          <a:p>
            <a:pPr indent="0" marL="0">
              <a:buNone/>
            </a:pPr>
            <a:r>
              <a:rPr lang="en-US" sz="3400" dirty="0">
                <a:solidFill>
                  <a:srgbClr val="005071"/>
                </a:solidFill>
                <a:latin typeface="Calibri Light" pitchFamily="34" charset="0"/>
                <a:ea typeface="Calibri Light" pitchFamily="34" charset="-122"/>
                <a:cs typeface="Calibri Light" pitchFamily="34" charset="-120"/>
              </a:rPr>
              <a:t>for Life Underwriting &amp; Claims</a:t>
            </a:r>
            <a:endParaRPr lang="en-US" sz="3400" dirty="0"/>
          </a:p>
        </p:txBody>
      </p:sp>
      <p:sp>
        <p:nvSpPr>
          <p:cNvPr id="4" name="Shape 2"/>
          <p:cNvSpPr/>
          <p:nvPr/>
        </p:nvSpPr>
        <p:spPr>
          <a:xfrm>
            <a:off x="603504" y="3913632"/>
            <a:ext cx="3017520" cy="347472"/>
          </a:xfrm>
          <a:prstGeom prst="roundRect">
            <a:avLst>
              <a:gd name="adj" fmla="val 26316"/>
            </a:avLst>
          </a:prstGeom>
          <a:solidFill>
            <a:srgbClr val="DCF3FA"/>
          </a:solidFill>
          <a:ln w="9525">
            <a:solidFill>
              <a:srgbClr val="B3D9E8"/>
            </a:solidFill>
            <a:prstDash val="solid"/>
          </a:ln>
        </p:spPr>
      </p:sp>
      <p:sp>
        <p:nvSpPr>
          <p:cNvPr id="5" name="Text 3"/>
          <p:cNvSpPr/>
          <p:nvPr/>
        </p:nvSpPr>
        <p:spPr>
          <a:xfrm>
            <a:off x="603504" y="3913632"/>
            <a:ext cx="3017520" cy="347472"/>
          </a:xfrm>
          <a:prstGeom prst="rect">
            <a:avLst/>
          </a:prstGeom>
          <a:noFill/>
          <a:ln/>
        </p:spPr>
        <p:txBody>
          <a:bodyPr wrap="square" lIns="0" tIns="0" rIns="0" bIns="0" rtlCol="0" anchor="ctr"/>
          <a:lstStyle/>
          <a:p>
            <a:pPr algn="ctr" indent="0" marL="0">
              <a:buNone/>
            </a:pPr>
            <a:r>
              <a:rPr lang="en-US" sz="1150" b="1" dirty="0">
                <a:solidFill>
                  <a:srgbClr val="005071"/>
                </a:solidFill>
                <a:latin typeface="Calibri" pitchFamily="34" charset="0"/>
                <a:ea typeface="Calibri" pitchFamily="34" charset="-122"/>
                <a:cs typeface="Calibri" pitchFamily="34" charset="-120"/>
              </a:rPr>
              <a:t>POC scope: Underwriting only</a:t>
            </a:r>
            <a:endParaRPr lang="en-US" sz="1150" dirty="0"/>
          </a:p>
        </p:txBody>
      </p:sp>
      <p:sp>
        <p:nvSpPr>
          <p:cNvPr id="6" name="Text 4"/>
          <p:cNvSpPr/>
          <p:nvPr/>
        </p:nvSpPr>
        <p:spPr>
          <a:xfrm>
            <a:off x="566928" y="4498848"/>
            <a:ext cx="10881360" cy="731520"/>
          </a:xfrm>
          <a:prstGeom prst="rect">
            <a:avLst/>
          </a:prstGeom>
          <a:noFill/>
          <a:ln/>
        </p:spPr>
        <p:txBody>
          <a:bodyPr wrap="square" lIns="0" tIns="0" rIns="0" bIns="0" rtlCol="0" anchor="ctr"/>
          <a:lstStyle/>
          <a:p>
            <a:pPr indent="0" marL="0">
              <a:lnSpc>
                <a:spcPct val="130000"/>
              </a:lnSpc>
              <a:buNone/>
            </a:pPr>
            <a:r>
              <a:rPr lang="en-US" sz="1250" b="1" dirty="0">
                <a:solidFill>
                  <a:srgbClr val="2E3643"/>
                </a:solidFill>
                <a:latin typeface="Calibri" pitchFamily="34" charset="0"/>
                <a:ea typeface="Calibri" pitchFamily="34" charset="-122"/>
                <a:cs typeface="Calibri" pitchFamily="34" charset="-120"/>
              </a:rPr>
              <a:t>Powered by Claude AI  ·  Document Intelligence  ·  Rules Engine</a:t>
            </a:r>
            <a:endParaRPr lang="en-US" sz="1250" dirty="0"/>
          </a:p>
          <a:p>
            <a:pPr indent="0" marL="0">
              <a:lnSpc>
                <a:spcPct val="130000"/>
              </a:lnSpc>
              <a:buNone/>
            </a:pPr>
            <a:r>
              <a:rPr lang="en-US" sz="1250" dirty="0">
                <a:solidFill>
                  <a:srgbClr val="6C727B"/>
                </a:solidFill>
                <a:latin typeface="Calibri" pitchFamily="34" charset="0"/>
                <a:ea typeface="Calibri" pitchFamily="34" charset="-122"/>
                <a:cs typeface="Calibri" pitchFamily="34" charset="-120"/>
              </a:rPr>
              <a:t>Core team: Atul Kr. Yadav  ·  Monica Rajagopal  ·  Salman Syed Qurshid  ·  Ritu Kumari</a:t>
            </a:r>
            <a:endParaRPr lang="en-US" sz="1250" dirty="0"/>
          </a:p>
        </p:txBody>
      </p:sp>
      <p:pic>
        <p:nvPicPr>
          <p:cNvPr id="7" name="Image 0" descr="exl_logo.png">    </p:cNvPr>
          <p:cNvPicPr>
            <a:picLocks noChangeAspect="1"/>
          </p:cNvPicPr>
          <p:nvPr/>
        </p:nvPicPr>
        <p:blipFill>
          <a:blip r:embed="rId1"/>
          <a:stretch>
            <a:fillRect/>
          </a:stretch>
        </p:blipFill>
        <p:spPr>
          <a:xfrm>
            <a:off x="11201400" y="6272784"/>
            <a:ext cx="566928"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01  ·  THE CHALLENGE</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Underwriters Are Buried in Unstructured Documents</a:t>
            </a:r>
            <a:endParaRPr lang="en-US" sz="3000" dirty="0"/>
          </a:p>
        </p:txBody>
      </p:sp>
      <p:sp>
        <p:nvSpPr>
          <p:cNvPr id="4" name="Text 2"/>
          <p:cNvSpPr/>
          <p:nvPr/>
        </p:nvSpPr>
        <p:spPr>
          <a:xfrm>
            <a:off x="566928" y="1243584"/>
            <a:ext cx="10881360" cy="310896"/>
          </a:xfrm>
          <a:prstGeom prst="rect">
            <a:avLst/>
          </a:prstGeom>
          <a:noFill/>
          <a:ln/>
        </p:spPr>
        <p:txBody>
          <a:bodyPr wrap="square" lIns="0" tIns="0" rIns="0" bIns="0" rtlCol="0" anchor="ctr"/>
          <a:lstStyle/>
          <a:p>
            <a:pPr indent="0" marL="0">
              <a:buNone/>
            </a:pPr>
            <a:r>
              <a:rPr lang="en-US" sz="1300" dirty="0">
                <a:solidFill>
                  <a:srgbClr val="2E3643"/>
                </a:solidFill>
                <a:latin typeface="Calibri" pitchFamily="34" charset="0"/>
                <a:ea typeface="Calibri" pitchFamily="34" charset="-122"/>
                <a:cs typeface="Calibri" pitchFamily="34" charset="-120"/>
              </a:rPr>
              <a:t>Life insurers receive large volumes of unstructured information across every case.</a:t>
            </a:r>
            <a:endParaRPr lang="en-US" sz="1300" dirty="0"/>
          </a:p>
        </p:txBody>
      </p:sp>
      <p:sp>
        <p:nvSpPr>
          <p:cNvPr id="5" name="Text 3"/>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2</a:t>
            </a:r>
            <a:endParaRPr lang="en-US" sz="800" dirty="0"/>
          </a:p>
        </p:txBody>
      </p:sp>
      <p:pic>
        <p:nvPicPr>
          <p:cNvPr id="6"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7" name="Shape 4"/>
          <p:cNvSpPr/>
          <p:nvPr/>
        </p:nvSpPr>
        <p:spPr>
          <a:xfrm>
            <a:off x="566928" y="1874520"/>
            <a:ext cx="1956816" cy="566928"/>
          </a:xfrm>
          <a:prstGeom prst="roundRect">
            <a:avLst>
              <a:gd name="adj" fmla="val 16129"/>
            </a:avLst>
          </a:prstGeom>
          <a:solidFill>
            <a:srgbClr val="DCF3FA"/>
          </a:solidFill>
          <a:ln w="9525">
            <a:solidFill>
              <a:srgbClr val="B3D9E8"/>
            </a:solidFill>
            <a:prstDash val="solid"/>
          </a:ln>
        </p:spPr>
      </p:sp>
      <p:sp>
        <p:nvSpPr>
          <p:cNvPr id="8" name="Text 5"/>
          <p:cNvSpPr/>
          <p:nvPr/>
        </p:nvSpPr>
        <p:spPr>
          <a:xfrm>
            <a:off x="566928" y="1874520"/>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Medical reports</a:t>
            </a:r>
            <a:endParaRPr lang="en-US" sz="1100" dirty="0"/>
          </a:p>
        </p:txBody>
      </p:sp>
      <p:sp>
        <p:nvSpPr>
          <p:cNvPr id="9" name="Shape 6"/>
          <p:cNvSpPr/>
          <p:nvPr/>
        </p:nvSpPr>
        <p:spPr>
          <a:xfrm>
            <a:off x="2670048" y="1874520"/>
            <a:ext cx="1956816" cy="566928"/>
          </a:xfrm>
          <a:prstGeom prst="roundRect">
            <a:avLst>
              <a:gd name="adj" fmla="val 16129"/>
            </a:avLst>
          </a:prstGeom>
          <a:solidFill>
            <a:srgbClr val="DCF3FA"/>
          </a:solidFill>
          <a:ln w="9525">
            <a:solidFill>
              <a:srgbClr val="B3D9E8"/>
            </a:solidFill>
            <a:prstDash val="solid"/>
          </a:ln>
        </p:spPr>
      </p:sp>
      <p:sp>
        <p:nvSpPr>
          <p:cNvPr id="10" name="Text 7"/>
          <p:cNvSpPr/>
          <p:nvPr/>
        </p:nvSpPr>
        <p:spPr>
          <a:xfrm>
            <a:off x="2670048" y="1874520"/>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APS documents</a:t>
            </a:r>
            <a:endParaRPr lang="en-US" sz="1100" dirty="0"/>
          </a:p>
        </p:txBody>
      </p:sp>
      <p:sp>
        <p:nvSpPr>
          <p:cNvPr id="11" name="Shape 8"/>
          <p:cNvSpPr/>
          <p:nvPr/>
        </p:nvSpPr>
        <p:spPr>
          <a:xfrm>
            <a:off x="4773168" y="1874520"/>
            <a:ext cx="1956816" cy="566928"/>
          </a:xfrm>
          <a:prstGeom prst="roundRect">
            <a:avLst>
              <a:gd name="adj" fmla="val 16129"/>
            </a:avLst>
          </a:prstGeom>
          <a:solidFill>
            <a:srgbClr val="DCF3FA"/>
          </a:solidFill>
          <a:ln w="9525">
            <a:solidFill>
              <a:srgbClr val="B3D9E8"/>
            </a:solidFill>
            <a:prstDash val="solid"/>
          </a:ln>
        </p:spPr>
      </p:sp>
      <p:sp>
        <p:nvSpPr>
          <p:cNvPr id="12" name="Text 9"/>
          <p:cNvSpPr/>
          <p:nvPr/>
        </p:nvSpPr>
        <p:spPr>
          <a:xfrm>
            <a:off x="4773168" y="1874520"/>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Lab results</a:t>
            </a:r>
            <a:endParaRPr lang="en-US" sz="1100" dirty="0"/>
          </a:p>
        </p:txBody>
      </p:sp>
      <p:sp>
        <p:nvSpPr>
          <p:cNvPr id="13" name="Shape 10"/>
          <p:cNvSpPr/>
          <p:nvPr/>
        </p:nvSpPr>
        <p:spPr>
          <a:xfrm>
            <a:off x="566928" y="2587752"/>
            <a:ext cx="1956816" cy="566928"/>
          </a:xfrm>
          <a:prstGeom prst="roundRect">
            <a:avLst>
              <a:gd name="adj" fmla="val 16129"/>
            </a:avLst>
          </a:prstGeom>
          <a:solidFill>
            <a:srgbClr val="DCF3FA"/>
          </a:solidFill>
          <a:ln w="9525">
            <a:solidFill>
              <a:srgbClr val="B3D9E8"/>
            </a:solidFill>
            <a:prstDash val="solid"/>
          </a:ln>
        </p:spPr>
      </p:sp>
      <p:sp>
        <p:nvSpPr>
          <p:cNvPr id="14" name="Text 11"/>
          <p:cNvSpPr/>
          <p:nvPr/>
        </p:nvSpPr>
        <p:spPr>
          <a:xfrm>
            <a:off x="566928" y="2587752"/>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Applications</a:t>
            </a:r>
            <a:endParaRPr lang="en-US" sz="1100" dirty="0"/>
          </a:p>
        </p:txBody>
      </p:sp>
      <p:sp>
        <p:nvSpPr>
          <p:cNvPr id="15" name="Shape 12"/>
          <p:cNvSpPr/>
          <p:nvPr/>
        </p:nvSpPr>
        <p:spPr>
          <a:xfrm>
            <a:off x="2670048" y="2587752"/>
            <a:ext cx="1956816" cy="566928"/>
          </a:xfrm>
          <a:prstGeom prst="roundRect">
            <a:avLst>
              <a:gd name="adj" fmla="val 16129"/>
            </a:avLst>
          </a:prstGeom>
          <a:solidFill>
            <a:srgbClr val="DCF3FA"/>
          </a:solidFill>
          <a:ln w="9525">
            <a:solidFill>
              <a:srgbClr val="B3D9E8"/>
            </a:solidFill>
            <a:prstDash val="solid"/>
          </a:ln>
        </p:spPr>
      </p:sp>
      <p:sp>
        <p:nvSpPr>
          <p:cNvPr id="16" name="Text 13"/>
          <p:cNvSpPr/>
          <p:nvPr/>
        </p:nvSpPr>
        <p:spPr>
          <a:xfrm>
            <a:off x="2670048" y="2587752"/>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Policy records</a:t>
            </a:r>
            <a:endParaRPr lang="en-US" sz="1100" dirty="0"/>
          </a:p>
        </p:txBody>
      </p:sp>
      <p:sp>
        <p:nvSpPr>
          <p:cNvPr id="17" name="Shape 14"/>
          <p:cNvSpPr/>
          <p:nvPr/>
        </p:nvSpPr>
        <p:spPr>
          <a:xfrm>
            <a:off x="4773168" y="2587752"/>
            <a:ext cx="1956816" cy="566928"/>
          </a:xfrm>
          <a:prstGeom prst="roundRect">
            <a:avLst>
              <a:gd name="adj" fmla="val 16129"/>
            </a:avLst>
          </a:prstGeom>
          <a:solidFill>
            <a:srgbClr val="DCF3FA"/>
          </a:solidFill>
          <a:ln w="9525">
            <a:solidFill>
              <a:srgbClr val="B3D9E8"/>
            </a:solidFill>
            <a:prstDash val="solid"/>
          </a:ln>
        </p:spPr>
      </p:sp>
      <p:sp>
        <p:nvSpPr>
          <p:cNvPr id="18" name="Text 15"/>
          <p:cNvSpPr/>
          <p:nvPr/>
        </p:nvSpPr>
        <p:spPr>
          <a:xfrm>
            <a:off x="4773168" y="2587752"/>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Claim forms</a:t>
            </a:r>
            <a:endParaRPr lang="en-US" sz="1100" dirty="0"/>
          </a:p>
        </p:txBody>
      </p:sp>
      <p:sp>
        <p:nvSpPr>
          <p:cNvPr id="19" name="Shape 16"/>
          <p:cNvSpPr/>
          <p:nvPr/>
        </p:nvSpPr>
        <p:spPr>
          <a:xfrm>
            <a:off x="566928" y="3300984"/>
            <a:ext cx="1956816" cy="566928"/>
          </a:xfrm>
          <a:prstGeom prst="roundRect">
            <a:avLst>
              <a:gd name="adj" fmla="val 16129"/>
            </a:avLst>
          </a:prstGeom>
          <a:solidFill>
            <a:srgbClr val="DCF3FA"/>
          </a:solidFill>
          <a:ln w="9525">
            <a:solidFill>
              <a:srgbClr val="B3D9E8"/>
            </a:solidFill>
            <a:prstDash val="solid"/>
          </a:ln>
        </p:spPr>
      </p:sp>
      <p:sp>
        <p:nvSpPr>
          <p:cNvPr id="20" name="Text 17"/>
          <p:cNvSpPr/>
          <p:nvPr/>
        </p:nvSpPr>
        <p:spPr>
          <a:xfrm>
            <a:off x="566928" y="3300984"/>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Death certificates</a:t>
            </a:r>
            <a:endParaRPr lang="en-US" sz="1100" dirty="0"/>
          </a:p>
        </p:txBody>
      </p:sp>
      <p:sp>
        <p:nvSpPr>
          <p:cNvPr id="21" name="Shape 18"/>
          <p:cNvSpPr/>
          <p:nvPr/>
        </p:nvSpPr>
        <p:spPr>
          <a:xfrm>
            <a:off x="2670048" y="3300984"/>
            <a:ext cx="1956816" cy="566928"/>
          </a:xfrm>
          <a:prstGeom prst="roundRect">
            <a:avLst>
              <a:gd name="adj" fmla="val 16129"/>
            </a:avLst>
          </a:prstGeom>
          <a:solidFill>
            <a:srgbClr val="DCF3FA"/>
          </a:solidFill>
          <a:ln w="9525">
            <a:solidFill>
              <a:srgbClr val="B3D9E8"/>
            </a:solidFill>
            <a:prstDash val="solid"/>
          </a:ln>
        </p:spPr>
      </p:sp>
      <p:sp>
        <p:nvSpPr>
          <p:cNvPr id="22" name="Text 19"/>
          <p:cNvSpPr/>
          <p:nvPr/>
        </p:nvSpPr>
        <p:spPr>
          <a:xfrm>
            <a:off x="2670048" y="3300984"/>
            <a:ext cx="1956816" cy="566928"/>
          </a:xfrm>
          <a:prstGeom prst="rect">
            <a:avLst/>
          </a:prstGeom>
          <a:noFill/>
          <a:ln/>
        </p:spPr>
        <p:txBody>
          <a:bodyPr wrap="square" lIns="0" tIns="0" rIns="0" bIns="0" rtlCol="0" anchor="ctr"/>
          <a:lstStyle/>
          <a:p>
            <a:pPr algn="ctr" indent="0" marL="0">
              <a:buNone/>
            </a:pPr>
            <a:r>
              <a:rPr lang="en-US" sz="1100" b="1" dirty="0">
                <a:solidFill>
                  <a:srgbClr val="005071"/>
                </a:solidFill>
                <a:latin typeface="Calibri" pitchFamily="34" charset="0"/>
                <a:ea typeface="Calibri" pitchFamily="34" charset="-122"/>
                <a:cs typeface="Calibri" pitchFamily="34" charset="-120"/>
              </a:rPr>
              <a:t>Case notes</a:t>
            </a:r>
            <a:endParaRPr lang="en-US" sz="1100" dirty="0"/>
          </a:p>
        </p:txBody>
      </p:sp>
      <p:sp>
        <p:nvSpPr>
          <p:cNvPr id="23" name="Text 20"/>
          <p:cNvSpPr/>
          <p:nvPr/>
        </p:nvSpPr>
        <p:spPr>
          <a:xfrm>
            <a:off x="566928" y="4041648"/>
            <a:ext cx="6309360" cy="274320"/>
          </a:xfrm>
          <a:prstGeom prst="rect">
            <a:avLst/>
          </a:prstGeom>
          <a:noFill/>
          <a:ln/>
        </p:spPr>
        <p:txBody>
          <a:bodyPr wrap="square" lIns="0" tIns="0" rIns="0" bIns="0" rtlCol="0" anchor="ctr"/>
          <a:lstStyle/>
          <a:p>
            <a:pPr indent="0" marL="0">
              <a:buNone/>
            </a:pPr>
            <a:r>
              <a:rPr lang="en-US" sz="1100" i="1" dirty="0">
                <a:solidFill>
                  <a:srgbClr val="6C727B"/>
                </a:solidFill>
                <a:latin typeface="Calibri" pitchFamily="34" charset="0"/>
                <a:ea typeface="Calibri" pitchFamily="34" charset="-122"/>
                <a:cs typeface="Calibri" pitchFamily="34" charset="-120"/>
              </a:rPr>
              <a:t>…arriving as scanned PDFs, faxes, images and free text</a:t>
            </a:r>
            <a:endParaRPr lang="en-US" sz="1100" dirty="0"/>
          </a:p>
        </p:txBody>
      </p:sp>
      <p:sp>
        <p:nvSpPr>
          <p:cNvPr id="24" name="Shape 21"/>
          <p:cNvSpPr/>
          <p:nvPr/>
        </p:nvSpPr>
        <p:spPr>
          <a:xfrm>
            <a:off x="7296912" y="1874520"/>
            <a:ext cx="4343400" cy="2121408"/>
          </a:xfrm>
          <a:prstGeom prst="roundRect">
            <a:avLst>
              <a:gd name="adj" fmla="val 2586"/>
            </a:avLst>
          </a:prstGeom>
          <a:solidFill>
            <a:srgbClr val="DCF3FA"/>
          </a:solidFill>
          <a:ln w="9525">
            <a:solidFill>
              <a:srgbClr val="B3D9E8"/>
            </a:solidFill>
            <a:prstDash val="solid"/>
          </a:ln>
        </p:spPr>
      </p:sp>
      <p:sp>
        <p:nvSpPr>
          <p:cNvPr id="25" name="Text 22"/>
          <p:cNvSpPr/>
          <p:nvPr/>
        </p:nvSpPr>
        <p:spPr>
          <a:xfrm>
            <a:off x="7534656" y="2029968"/>
            <a:ext cx="3931920" cy="292608"/>
          </a:xfrm>
          <a:prstGeom prst="rect">
            <a:avLst/>
          </a:prstGeom>
          <a:noFill/>
          <a:ln/>
        </p:spPr>
        <p:txBody>
          <a:bodyPr wrap="square" lIns="0" tIns="0" rIns="0" bIns="0" rtlCol="0" anchor="ctr"/>
          <a:lstStyle/>
          <a:p>
            <a:pPr algn="l" indent="0" marL="0">
              <a:buNone/>
            </a:pPr>
            <a:r>
              <a:rPr lang="en-US" sz="1400" b="1" dirty="0">
                <a:solidFill>
                  <a:srgbClr val="005071"/>
                </a:solidFill>
                <a:latin typeface="Calibri" pitchFamily="34" charset="0"/>
                <a:ea typeface="Calibri" pitchFamily="34" charset="-122"/>
                <a:cs typeface="Calibri" pitchFamily="34" charset="-120"/>
              </a:rPr>
              <a:t>Where reviewer time goes today</a:t>
            </a:r>
            <a:endParaRPr lang="en-US" sz="1400" dirty="0"/>
          </a:p>
        </p:txBody>
      </p:sp>
      <p:sp>
        <p:nvSpPr>
          <p:cNvPr id="26" name="Text 23"/>
          <p:cNvSpPr/>
          <p:nvPr/>
        </p:nvSpPr>
        <p:spPr>
          <a:xfrm>
            <a:off x="7534656" y="2432304"/>
            <a:ext cx="3931920" cy="16916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50" dirty="0">
                <a:solidFill>
                  <a:srgbClr val="2E3643"/>
                </a:solidFill>
                <a:latin typeface="Calibri" pitchFamily="34" charset="0"/>
                <a:ea typeface="Calibri" pitchFamily="34" charset="-122"/>
                <a:cs typeface="Calibri" pitchFamily="34" charset="-120"/>
              </a:rPr>
              <a:t>Reading long, fragmented documents</a:t>
            </a:r>
            <a:endParaRPr lang="en-US" sz="1150" dirty="0"/>
          </a:p>
          <a:p>
            <a:pPr marL="342900" indent="-342900">
              <a:lnSpc>
                <a:spcPct val="105000"/>
              </a:lnSpc>
              <a:spcAft>
                <a:spcPts val="500"/>
              </a:spcAft>
              <a:buSzPct val="100000"/>
              <a:buChar char="•"/>
            </a:pPr>
            <a:r>
              <a:rPr lang="en-US" sz="1150" dirty="0">
                <a:solidFill>
                  <a:srgbClr val="2E3643"/>
                </a:solidFill>
                <a:latin typeface="Calibri" pitchFamily="34" charset="0"/>
                <a:ea typeface="Calibri" pitchFamily="34" charset="-122"/>
                <a:cs typeface="Calibri" pitchFamily="34" charset="-120"/>
              </a:rPr>
              <a:t>Locating the evidence behind a decision</a:t>
            </a:r>
            <a:endParaRPr lang="en-US" sz="1150" dirty="0"/>
          </a:p>
          <a:p>
            <a:pPr marL="342900" indent="-342900">
              <a:lnSpc>
                <a:spcPct val="105000"/>
              </a:lnSpc>
              <a:spcAft>
                <a:spcPts val="500"/>
              </a:spcAft>
              <a:buSzPct val="100000"/>
              <a:buChar char="•"/>
            </a:pPr>
            <a:r>
              <a:rPr lang="en-US" sz="1150" dirty="0">
                <a:solidFill>
                  <a:srgbClr val="2E3643"/>
                </a:solidFill>
                <a:latin typeface="Calibri" pitchFamily="34" charset="0"/>
                <a:ea typeface="Calibri" pitchFamily="34" charset="-122"/>
                <a:cs typeface="Calibri" pitchFamily="34" charset="-120"/>
              </a:rPr>
              <a:t>Creating case summaries by hand</a:t>
            </a:r>
            <a:endParaRPr lang="en-US" sz="1150" dirty="0"/>
          </a:p>
          <a:p>
            <a:pPr marL="342900" indent="-342900">
              <a:lnSpc>
                <a:spcPct val="105000"/>
              </a:lnSpc>
              <a:spcAft>
                <a:spcPts val="500"/>
              </a:spcAft>
              <a:buSzPct val="100000"/>
              <a:buChar char="•"/>
            </a:pPr>
            <a:r>
              <a:rPr lang="en-US" sz="1150" dirty="0">
                <a:solidFill>
                  <a:srgbClr val="2E3643"/>
                </a:solidFill>
                <a:latin typeface="Calibri" pitchFamily="34" charset="0"/>
                <a:ea typeface="Calibri" pitchFamily="34" charset="-122"/>
                <a:cs typeface="Calibri" pitchFamily="34" charset="-120"/>
              </a:rPr>
              <a:t>Checking carrier guidelines</a:t>
            </a:r>
            <a:endParaRPr lang="en-US" sz="1150" dirty="0"/>
          </a:p>
          <a:p>
            <a:pPr marL="342900" indent="-342900">
              <a:lnSpc>
                <a:spcPct val="105000"/>
              </a:lnSpc>
              <a:spcAft>
                <a:spcPts val="500"/>
              </a:spcAft>
              <a:buSzPct val="100000"/>
              <a:buChar char="•"/>
            </a:pPr>
            <a:r>
              <a:rPr lang="en-US" sz="1150" dirty="0">
                <a:solidFill>
                  <a:srgbClr val="2E3643"/>
                </a:solidFill>
                <a:latin typeface="Calibri" pitchFamily="34" charset="0"/>
                <a:ea typeface="Calibri" pitchFamily="34" charset="-122"/>
                <a:cs typeface="Calibri" pitchFamily="34" charset="-120"/>
              </a:rPr>
              <a:t>Documenting the decision for audit</a:t>
            </a:r>
            <a:endParaRPr lang="en-US" sz="1150" dirty="0"/>
          </a:p>
        </p:txBody>
      </p:sp>
      <p:sp>
        <p:nvSpPr>
          <p:cNvPr id="27" name="Shape 24"/>
          <p:cNvSpPr/>
          <p:nvPr/>
        </p:nvSpPr>
        <p:spPr>
          <a:xfrm>
            <a:off x="566928" y="4443984"/>
            <a:ext cx="11073384" cy="932688"/>
          </a:xfrm>
          <a:prstGeom prst="roundRect">
            <a:avLst>
              <a:gd name="adj" fmla="val 4902"/>
            </a:avLst>
          </a:prstGeom>
          <a:solidFill>
            <a:srgbClr val="EEF9FD"/>
          </a:solidFill>
          <a:ln w="9525">
            <a:solidFill>
              <a:srgbClr val="B3D9E8"/>
            </a:solidFill>
            <a:prstDash val="solid"/>
          </a:ln>
        </p:spPr>
      </p:sp>
      <p:sp>
        <p:nvSpPr>
          <p:cNvPr id="28" name="Text 25"/>
          <p:cNvSpPr/>
          <p:nvPr/>
        </p:nvSpPr>
        <p:spPr>
          <a:xfrm>
            <a:off x="841248" y="4590288"/>
            <a:ext cx="3383280" cy="274320"/>
          </a:xfrm>
          <a:prstGeom prst="rect">
            <a:avLst/>
          </a:prstGeom>
          <a:noFill/>
          <a:ln/>
        </p:spPr>
        <p:txBody>
          <a:bodyPr wrap="square" lIns="0" tIns="0" rIns="0" bIns="0" rtlCol="0" anchor="ctr"/>
          <a:lstStyle/>
          <a:p>
            <a:pPr indent="0" marL="0">
              <a:buNone/>
            </a:pPr>
            <a:r>
              <a:rPr lang="en-US" sz="1350" b="1" dirty="0">
                <a:solidFill>
                  <a:srgbClr val="FB4E0B"/>
                </a:solidFill>
                <a:latin typeface="Calibri" pitchFamily="34" charset="0"/>
                <a:ea typeface="Calibri" pitchFamily="34" charset="-122"/>
                <a:cs typeface="Calibri" pitchFamily="34" charset="-120"/>
              </a:rPr>
              <a:t>Slow turnaround</a:t>
            </a:r>
            <a:endParaRPr lang="en-US" sz="1350" dirty="0"/>
          </a:p>
        </p:txBody>
      </p:sp>
      <p:sp>
        <p:nvSpPr>
          <p:cNvPr id="29" name="Text 26"/>
          <p:cNvSpPr/>
          <p:nvPr/>
        </p:nvSpPr>
        <p:spPr>
          <a:xfrm>
            <a:off x="841248" y="4882896"/>
            <a:ext cx="3383280" cy="402336"/>
          </a:xfrm>
          <a:prstGeom prst="rect">
            <a:avLst/>
          </a:prstGeom>
          <a:noFill/>
          <a:ln/>
        </p:spPr>
        <p:txBody>
          <a:bodyPr wrap="square" lIns="0" tIns="0" rIns="0" bIns="0" rtlCol="0" anchor="t"/>
          <a:lstStyle/>
          <a:p>
            <a:pPr indent="0" marL="0">
              <a:buNone/>
            </a:pPr>
            <a:r>
              <a:rPr lang="en-US" sz="1100" dirty="0">
                <a:solidFill>
                  <a:srgbClr val="2E3643"/>
                </a:solidFill>
                <a:latin typeface="Calibri" pitchFamily="34" charset="0"/>
                <a:ea typeface="Calibri" pitchFamily="34" charset="-122"/>
                <a:cs typeface="Calibri" pitchFamily="34" charset="-120"/>
              </a:rPr>
              <a:t>Manual review delays every case decision</a:t>
            </a:r>
            <a:endParaRPr lang="en-US" sz="1100" dirty="0"/>
          </a:p>
        </p:txBody>
      </p:sp>
      <p:sp>
        <p:nvSpPr>
          <p:cNvPr id="30" name="Text 27"/>
          <p:cNvSpPr/>
          <p:nvPr/>
        </p:nvSpPr>
        <p:spPr>
          <a:xfrm>
            <a:off x="4498848" y="4590288"/>
            <a:ext cx="3383280" cy="274320"/>
          </a:xfrm>
          <a:prstGeom prst="rect">
            <a:avLst/>
          </a:prstGeom>
          <a:noFill/>
          <a:ln/>
        </p:spPr>
        <p:txBody>
          <a:bodyPr wrap="square" lIns="0" tIns="0" rIns="0" bIns="0" rtlCol="0" anchor="ctr"/>
          <a:lstStyle/>
          <a:p>
            <a:pPr indent="0" marL="0">
              <a:buNone/>
            </a:pPr>
            <a:r>
              <a:rPr lang="en-US" sz="1350" b="1" dirty="0">
                <a:solidFill>
                  <a:srgbClr val="FB4E0B"/>
                </a:solidFill>
                <a:latin typeface="Calibri" pitchFamily="34" charset="0"/>
                <a:ea typeface="Calibri" pitchFamily="34" charset="-122"/>
                <a:cs typeface="Calibri" pitchFamily="34" charset="-120"/>
              </a:rPr>
              <a:t>Inconsistent outcomes</a:t>
            </a:r>
            <a:endParaRPr lang="en-US" sz="1350" dirty="0"/>
          </a:p>
        </p:txBody>
      </p:sp>
      <p:sp>
        <p:nvSpPr>
          <p:cNvPr id="31" name="Text 28"/>
          <p:cNvSpPr/>
          <p:nvPr/>
        </p:nvSpPr>
        <p:spPr>
          <a:xfrm>
            <a:off x="4498848" y="4882896"/>
            <a:ext cx="3383280" cy="402336"/>
          </a:xfrm>
          <a:prstGeom prst="rect">
            <a:avLst/>
          </a:prstGeom>
          <a:noFill/>
          <a:ln/>
        </p:spPr>
        <p:txBody>
          <a:bodyPr wrap="square" lIns="0" tIns="0" rIns="0" bIns="0" rtlCol="0" anchor="t"/>
          <a:lstStyle/>
          <a:p>
            <a:pPr indent="0" marL="0">
              <a:buNone/>
            </a:pPr>
            <a:r>
              <a:rPr lang="en-US" sz="1100" dirty="0">
                <a:solidFill>
                  <a:srgbClr val="2E3643"/>
                </a:solidFill>
                <a:latin typeface="Calibri" pitchFamily="34" charset="0"/>
                <a:ea typeface="Calibri" pitchFamily="34" charset="-122"/>
                <a:cs typeface="Calibri" pitchFamily="34" charset="-120"/>
              </a:rPr>
              <a:t>Summaries vary reviewer to reviewer</a:t>
            </a:r>
            <a:endParaRPr lang="en-US" sz="1100" dirty="0"/>
          </a:p>
        </p:txBody>
      </p:sp>
      <p:sp>
        <p:nvSpPr>
          <p:cNvPr id="32" name="Text 29"/>
          <p:cNvSpPr/>
          <p:nvPr/>
        </p:nvSpPr>
        <p:spPr>
          <a:xfrm>
            <a:off x="8156448" y="4590288"/>
            <a:ext cx="3383280" cy="274320"/>
          </a:xfrm>
          <a:prstGeom prst="rect">
            <a:avLst/>
          </a:prstGeom>
          <a:noFill/>
          <a:ln/>
        </p:spPr>
        <p:txBody>
          <a:bodyPr wrap="square" lIns="0" tIns="0" rIns="0" bIns="0" rtlCol="0" anchor="ctr"/>
          <a:lstStyle/>
          <a:p>
            <a:pPr indent="0" marL="0">
              <a:buNone/>
            </a:pPr>
            <a:r>
              <a:rPr lang="en-US" sz="1350" b="1" dirty="0">
                <a:solidFill>
                  <a:srgbClr val="FB4E0B"/>
                </a:solidFill>
                <a:latin typeface="Calibri" pitchFamily="34" charset="0"/>
                <a:ea typeface="Calibri" pitchFamily="34" charset="-122"/>
                <a:cs typeface="Calibri" pitchFamily="34" charset="-120"/>
              </a:rPr>
              <a:t>Compliance exposure</a:t>
            </a:r>
            <a:endParaRPr lang="en-US" sz="1350" dirty="0"/>
          </a:p>
        </p:txBody>
      </p:sp>
      <p:sp>
        <p:nvSpPr>
          <p:cNvPr id="33" name="Text 30"/>
          <p:cNvSpPr/>
          <p:nvPr/>
        </p:nvSpPr>
        <p:spPr>
          <a:xfrm>
            <a:off x="8156448" y="4882896"/>
            <a:ext cx="3383280" cy="402336"/>
          </a:xfrm>
          <a:prstGeom prst="rect">
            <a:avLst/>
          </a:prstGeom>
          <a:noFill/>
          <a:ln/>
        </p:spPr>
        <p:txBody>
          <a:bodyPr wrap="square" lIns="0" tIns="0" rIns="0" bIns="0" rtlCol="0" anchor="t"/>
          <a:lstStyle/>
          <a:p>
            <a:pPr indent="0" marL="0">
              <a:buNone/>
            </a:pPr>
            <a:r>
              <a:rPr lang="en-US" sz="1100" dirty="0">
                <a:solidFill>
                  <a:srgbClr val="2E3643"/>
                </a:solidFill>
                <a:latin typeface="Calibri" pitchFamily="34" charset="0"/>
                <a:ea typeface="Calibri" pitchFamily="34" charset="-122"/>
                <a:cs typeface="Calibri" pitchFamily="34" charset="-120"/>
              </a:rPr>
              <a:t>Decisions that cannot be explained or audited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02  ·  THE SOLUTION</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Four Capabilities, One Evidence-Grounded Packet</a:t>
            </a:r>
            <a:endParaRPr lang="en-US" sz="3000" dirty="0"/>
          </a:p>
        </p:txBody>
      </p:sp>
      <p:sp>
        <p:nvSpPr>
          <p:cNvPr id="4" name="Text 2"/>
          <p:cNvSpPr/>
          <p:nvPr/>
        </p:nvSpPr>
        <p:spPr>
          <a:xfrm>
            <a:off x="566928" y="1243584"/>
            <a:ext cx="10881360" cy="310896"/>
          </a:xfrm>
          <a:prstGeom prst="rect">
            <a:avLst/>
          </a:prstGeom>
          <a:noFill/>
          <a:ln/>
        </p:spPr>
        <p:txBody>
          <a:bodyPr wrap="square" lIns="0" tIns="0" rIns="0" bIns="0" rtlCol="0" anchor="ctr"/>
          <a:lstStyle/>
          <a:p>
            <a:pPr indent="0" marL="0">
              <a:buNone/>
            </a:pPr>
            <a:r>
              <a:rPr lang="en-US" sz="1300" dirty="0">
                <a:solidFill>
                  <a:srgbClr val="2E3643"/>
                </a:solidFill>
                <a:latin typeface="Calibri" pitchFamily="34" charset="0"/>
                <a:ea typeface="Calibri" pitchFamily="34" charset="-122"/>
                <a:cs typeface="Calibri" pitchFamily="34" charset="-120"/>
              </a:rPr>
              <a:t>Automating the preparation of a complete, evidence-grounded Decision Packet.</a:t>
            </a:r>
            <a:endParaRPr lang="en-US" sz="1300" dirty="0"/>
          </a:p>
        </p:txBody>
      </p:sp>
      <p:sp>
        <p:nvSpPr>
          <p:cNvPr id="5" name="Text 3"/>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3</a:t>
            </a:r>
            <a:endParaRPr lang="en-US" sz="800" dirty="0"/>
          </a:p>
        </p:txBody>
      </p:sp>
      <p:pic>
        <p:nvPicPr>
          <p:cNvPr id="6"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7" name="Shape 4"/>
          <p:cNvSpPr/>
          <p:nvPr/>
        </p:nvSpPr>
        <p:spPr>
          <a:xfrm>
            <a:off x="566928" y="1901952"/>
            <a:ext cx="2679192" cy="2121408"/>
          </a:xfrm>
          <a:prstGeom prst="roundRect">
            <a:avLst>
              <a:gd name="adj" fmla="val 2586"/>
            </a:avLst>
          </a:prstGeom>
          <a:solidFill>
            <a:srgbClr val="DCF3FA"/>
          </a:solidFill>
          <a:ln w="9525">
            <a:solidFill>
              <a:srgbClr val="B3D9E8"/>
            </a:solidFill>
            <a:prstDash val="solid"/>
          </a:ln>
        </p:spPr>
      </p:sp>
      <p:sp>
        <p:nvSpPr>
          <p:cNvPr id="8" name="Shape 5"/>
          <p:cNvSpPr/>
          <p:nvPr/>
        </p:nvSpPr>
        <p:spPr>
          <a:xfrm>
            <a:off x="1604772" y="2121408"/>
            <a:ext cx="603504" cy="603504"/>
          </a:xfrm>
          <a:prstGeom prst="ellipse">
            <a:avLst/>
          </a:prstGeom>
          <a:solidFill>
            <a:srgbClr val="FB4E0B"/>
          </a:solidFill>
          <a:ln w="12700">
            <a:solidFill>
              <a:srgbClr val="FB4E0B"/>
            </a:solidFill>
            <a:prstDash val="solid"/>
          </a:ln>
        </p:spPr>
      </p:sp>
      <p:sp>
        <p:nvSpPr>
          <p:cNvPr id="9" name="Text 6"/>
          <p:cNvSpPr/>
          <p:nvPr/>
        </p:nvSpPr>
        <p:spPr>
          <a:xfrm>
            <a:off x="1604772" y="21214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7"/>
          <p:cNvSpPr/>
          <p:nvPr/>
        </p:nvSpPr>
        <p:spPr>
          <a:xfrm>
            <a:off x="713232" y="2871216"/>
            <a:ext cx="2386584" cy="310896"/>
          </a:xfrm>
          <a:prstGeom prst="rect">
            <a:avLst/>
          </a:prstGeom>
          <a:noFill/>
          <a:ln/>
        </p:spPr>
        <p:txBody>
          <a:bodyPr wrap="square" lIns="0" tIns="0" rIns="0" bIns="0" rtlCol="0" anchor="ctr"/>
          <a:lstStyle/>
          <a:p>
            <a:pPr algn="ctr" indent="0" marL="0">
              <a:buNone/>
            </a:pPr>
            <a:r>
              <a:rPr lang="en-US" sz="1450" b="1" dirty="0">
                <a:solidFill>
                  <a:srgbClr val="005071"/>
                </a:solidFill>
                <a:latin typeface="Calibri" pitchFamily="34" charset="0"/>
                <a:ea typeface="Calibri" pitchFamily="34" charset="-122"/>
                <a:cs typeface="Calibri" pitchFamily="34" charset="-120"/>
              </a:rPr>
              <a:t>Claude AI</a:t>
            </a:r>
            <a:endParaRPr lang="en-US" sz="1450" dirty="0"/>
          </a:p>
        </p:txBody>
      </p:sp>
      <p:sp>
        <p:nvSpPr>
          <p:cNvPr id="11" name="Text 8"/>
          <p:cNvSpPr/>
          <p:nvPr/>
        </p:nvSpPr>
        <p:spPr>
          <a:xfrm>
            <a:off x="749808" y="3236976"/>
            <a:ext cx="2313432" cy="1005840"/>
          </a:xfrm>
          <a:prstGeom prst="rect">
            <a:avLst/>
          </a:prstGeom>
          <a:noFill/>
          <a:ln/>
        </p:spPr>
        <p:txBody>
          <a:bodyPr wrap="square" lIns="0" tIns="0" rIns="0" bIns="0" rtlCol="0" anchor="t"/>
          <a:lstStyle/>
          <a:p>
            <a:pPr algn="ctr" indent="0" marL="0">
              <a:buNone/>
            </a:pPr>
            <a:r>
              <a:rPr lang="en-US" sz="1150" dirty="0">
                <a:solidFill>
                  <a:srgbClr val="2E3643"/>
                </a:solidFill>
                <a:latin typeface="Calibri" pitchFamily="34" charset="0"/>
                <a:ea typeface="Calibri" pitchFamily="34" charset="-122"/>
                <a:cs typeface="Calibri" pitchFamily="34" charset="-120"/>
              </a:rPr>
              <a:t>Extracts findings and drafts evidence-cited summaries and the Decision Packet itself.</a:t>
            </a:r>
            <a:endParaRPr lang="en-US" sz="1150" dirty="0"/>
          </a:p>
        </p:txBody>
      </p:sp>
      <p:sp>
        <p:nvSpPr>
          <p:cNvPr id="12" name="Shape 9"/>
          <p:cNvSpPr/>
          <p:nvPr/>
        </p:nvSpPr>
        <p:spPr>
          <a:xfrm>
            <a:off x="3364992" y="1901952"/>
            <a:ext cx="2679192" cy="2121408"/>
          </a:xfrm>
          <a:prstGeom prst="roundRect">
            <a:avLst>
              <a:gd name="adj" fmla="val 2586"/>
            </a:avLst>
          </a:prstGeom>
          <a:solidFill>
            <a:srgbClr val="DCF3FA"/>
          </a:solidFill>
          <a:ln w="9525">
            <a:solidFill>
              <a:srgbClr val="B3D9E8"/>
            </a:solidFill>
            <a:prstDash val="solid"/>
          </a:ln>
        </p:spPr>
      </p:sp>
      <p:sp>
        <p:nvSpPr>
          <p:cNvPr id="13" name="Shape 10"/>
          <p:cNvSpPr/>
          <p:nvPr/>
        </p:nvSpPr>
        <p:spPr>
          <a:xfrm>
            <a:off x="4402836" y="2121408"/>
            <a:ext cx="603504" cy="603504"/>
          </a:xfrm>
          <a:prstGeom prst="ellipse">
            <a:avLst/>
          </a:prstGeom>
          <a:solidFill>
            <a:srgbClr val="FB4E0B"/>
          </a:solidFill>
          <a:ln w="12700">
            <a:solidFill>
              <a:srgbClr val="FB4E0B"/>
            </a:solidFill>
            <a:prstDash val="solid"/>
          </a:ln>
        </p:spPr>
      </p:sp>
      <p:sp>
        <p:nvSpPr>
          <p:cNvPr id="14" name="Text 11"/>
          <p:cNvSpPr/>
          <p:nvPr/>
        </p:nvSpPr>
        <p:spPr>
          <a:xfrm>
            <a:off x="4402836" y="21214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2"/>
          <p:cNvSpPr/>
          <p:nvPr/>
        </p:nvSpPr>
        <p:spPr>
          <a:xfrm>
            <a:off x="3511296" y="2871216"/>
            <a:ext cx="2386584" cy="310896"/>
          </a:xfrm>
          <a:prstGeom prst="rect">
            <a:avLst/>
          </a:prstGeom>
          <a:noFill/>
          <a:ln/>
        </p:spPr>
        <p:txBody>
          <a:bodyPr wrap="square" lIns="0" tIns="0" rIns="0" bIns="0" rtlCol="0" anchor="ctr"/>
          <a:lstStyle/>
          <a:p>
            <a:pPr algn="ctr" indent="0" marL="0">
              <a:buNone/>
            </a:pPr>
            <a:r>
              <a:rPr lang="en-US" sz="1450" b="1" dirty="0">
                <a:solidFill>
                  <a:srgbClr val="005071"/>
                </a:solidFill>
                <a:latin typeface="Calibri" pitchFamily="34" charset="0"/>
                <a:ea typeface="Calibri" pitchFamily="34" charset="-122"/>
                <a:cs typeface="Calibri" pitchFamily="34" charset="-120"/>
              </a:rPr>
              <a:t>Document intelligence</a:t>
            </a:r>
            <a:endParaRPr lang="en-US" sz="1450" dirty="0"/>
          </a:p>
        </p:txBody>
      </p:sp>
      <p:sp>
        <p:nvSpPr>
          <p:cNvPr id="16" name="Text 13"/>
          <p:cNvSpPr/>
          <p:nvPr/>
        </p:nvSpPr>
        <p:spPr>
          <a:xfrm>
            <a:off x="3547872" y="3236976"/>
            <a:ext cx="2313432" cy="1005840"/>
          </a:xfrm>
          <a:prstGeom prst="rect">
            <a:avLst/>
          </a:prstGeom>
          <a:noFill/>
          <a:ln/>
        </p:spPr>
        <p:txBody>
          <a:bodyPr wrap="square" lIns="0" tIns="0" rIns="0" bIns="0" rtlCol="0" anchor="t"/>
          <a:lstStyle/>
          <a:p>
            <a:pPr algn="ctr" indent="0" marL="0">
              <a:buNone/>
            </a:pPr>
            <a:r>
              <a:rPr lang="en-US" sz="1150" dirty="0">
                <a:solidFill>
                  <a:srgbClr val="2E3643"/>
                </a:solidFill>
                <a:latin typeface="Calibri" pitchFamily="34" charset="0"/>
                <a:ea typeface="Calibri" pitchFamily="34" charset="-122"/>
                <a:cs typeface="Calibri" pitchFamily="34" charset="-120"/>
              </a:rPr>
              <a:t>Classifies and selects the documents that actually matter to the case.</a:t>
            </a:r>
            <a:endParaRPr lang="en-US" sz="1150" dirty="0"/>
          </a:p>
        </p:txBody>
      </p:sp>
      <p:sp>
        <p:nvSpPr>
          <p:cNvPr id="17" name="Shape 14"/>
          <p:cNvSpPr/>
          <p:nvPr/>
        </p:nvSpPr>
        <p:spPr>
          <a:xfrm>
            <a:off x="6163056" y="1901952"/>
            <a:ext cx="2679192" cy="2121408"/>
          </a:xfrm>
          <a:prstGeom prst="roundRect">
            <a:avLst>
              <a:gd name="adj" fmla="val 2586"/>
            </a:avLst>
          </a:prstGeom>
          <a:solidFill>
            <a:srgbClr val="DCF3FA"/>
          </a:solidFill>
          <a:ln w="9525">
            <a:solidFill>
              <a:srgbClr val="B3D9E8"/>
            </a:solidFill>
            <a:prstDash val="solid"/>
          </a:ln>
        </p:spPr>
      </p:sp>
      <p:sp>
        <p:nvSpPr>
          <p:cNvPr id="18" name="Shape 15"/>
          <p:cNvSpPr/>
          <p:nvPr/>
        </p:nvSpPr>
        <p:spPr>
          <a:xfrm>
            <a:off x="7200900" y="2121408"/>
            <a:ext cx="603504" cy="603504"/>
          </a:xfrm>
          <a:prstGeom prst="ellipse">
            <a:avLst/>
          </a:prstGeom>
          <a:solidFill>
            <a:srgbClr val="FB4E0B"/>
          </a:solidFill>
          <a:ln w="12700">
            <a:solidFill>
              <a:srgbClr val="FB4E0B"/>
            </a:solidFill>
            <a:prstDash val="solid"/>
          </a:ln>
        </p:spPr>
      </p:sp>
      <p:sp>
        <p:nvSpPr>
          <p:cNvPr id="19" name="Text 16"/>
          <p:cNvSpPr/>
          <p:nvPr/>
        </p:nvSpPr>
        <p:spPr>
          <a:xfrm>
            <a:off x="7200900" y="21214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Text 17"/>
          <p:cNvSpPr/>
          <p:nvPr/>
        </p:nvSpPr>
        <p:spPr>
          <a:xfrm>
            <a:off x="6309360" y="2871216"/>
            <a:ext cx="2386584" cy="310896"/>
          </a:xfrm>
          <a:prstGeom prst="rect">
            <a:avLst/>
          </a:prstGeom>
          <a:noFill/>
          <a:ln/>
        </p:spPr>
        <p:txBody>
          <a:bodyPr wrap="square" lIns="0" tIns="0" rIns="0" bIns="0" rtlCol="0" anchor="ctr"/>
          <a:lstStyle/>
          <a:p>
            <a:pPr algn="ctr" indent="0" marL="0">
              <a:buNone/>
            </a:pPr>
            <a:r>
              <a:rPr lang="en-US" sz="1450" b="1" dirty="0">
                <a:solidFill>
                  <a:srgbClr val="005071"/>
                </a:solidFill>
                <a:latin typeface="Calibri" pitchFamily="34" charset="0"/>
                <a:ea typeface="Calibri" pitchFamily="34" charset="-122"/>
                <a:cs typeface="Calibri" pitchFamily="34" charset="-120"/>
              </a:rPr>
              <a:t>OCR</a:t>
            </a:r>
            <a:endParaRPr lang="en-US" sz="1450" dirty="0"/>
          </a:p>
        </p:txBody>
      </p:sp>
      <p:sp>
        <p:nvSpPr>
          <p:cNvPr id="21" name="Text 18"/>
          <p:cNvSpPr/>
          <p:nvPr/>
        </p:nvSpPr>
        <p:spPr>
          <a:xfrm>
            <a:off x="6345936" y="3236976"/>
            <a:ext cx="2313432" cy="1005840"/>
          </a:xfrm>
          <a:prstGeom prst="rect">
            <a:avLst/>
          </a:prstGeom>
          <a:noFill/>
          <a:ln/>
        </p:spPr>
        <p:txBody>
          <a:bodyPr wrap="square" lIns="0" tIns="0" rIns="0" bIns="0" rtlCol="0" anchor="t"/>
          <a:lstStyle/>
          <a:p>
            <a:pPr algn="ctr" indent="0" marL="0">
              <a:buNone/>
            </a:pPr>
            <a:r>
              <a:rPr lang="en-US" sz="1150" dirty="0">
                <a:solidFill>
                  <a:srgbClr val="2E3643"/>
                </a:solidFill>
                <a:latin typeface="Calibri" pitchFamily="34" charset="0"/>
                <a:ea typeface="Calibri" pitchFamily="34" charset="-122"/>
                <a:cs typeface="Calibri" pitchFamily="34" charset="-120"/>
              </a:rPr>
              <a:t>Converts scanned PDFs, faxes and images into usable, searchable text.</a:t>
            </a:r>
            <a:endParaRPr lang="en-US" sz="1150" dirty="0"/>
          </a:p>
        </p:txBody>
      </p:sp>
      <p:sp>
        <p:nvSpPr>
          <p:cNvPr id="22" name="Shape 19"/>
          <p:cNvSpPr/>
          <p:nvPr/>
        </p:nvSpPr>
        <p:spPr>
          <a:xfrm>
            <a:off x="8961120" y="1901952"/>
            <a:ext cx="2679192" cy="2121408"/>
          </a:xfrm>
          <a:prstGeom prst="roundRect">
            <a:avLst>
              <a:gd name="adj" fmla="val 2586"/>
            </a:avLst>
          </a:prstGeom>
          <a:solidFill>
            <a:srgbClr val="DCF3FA"/>
          </a:solidFill>
          <a:ln w="9525">
            <a:solidFill>
              <a:srgbClr val="B3D9E8"/>
            </a:solidFill>
            <a:prstDash val="solid"/>
          </a:ln>
        </p:spPr>
      </p:sp>
      <p:sp>
        <p:nvSpPr>
          <p:cNvPr id="23" name="Shape 20"/>
          <p:cNvSpPr/>
          <p:nvPr/>
        </p:nvSpPr>
        <p:spPr>
          <a:xfrm>
            <a:off x="9998964" y="2121408"/>
            <a:ext cx="603504" cy="603504"/>
          </a:xfrm>
          <a:prstGeom prst="ellipse">
            <a:avLst/>
          </a:prstGeom>
          <a:solidFill>
            <a:srgbClr val="FB4E0B"/>
          </a:solidFill>
          <a:ln w="12700">
            <a:solidFill>
              <a:srgbClr val="FB4E0B"/>
            </a:solidFill>
            <a:prstDash val="solid"/>
          </a:ln>
        </p:spPr>
      </p:sp>
      <p:sp>
        <p:nvSpPr>
          <p:cNvPr id="24" name="Text 21"/>
          <p:cNvSpPr/>
          <p:nvPr/>
        </p:nvSpPr>
        <p:spPr>
          <a:xfrm>
            <a:off x="9998964" y="21214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2"/>
          <p:cNvSpPr/>
          <p:nvPr/>
        </p:nvSpPr>
        <p:spPr>
          <a:xfrm>
            <a:off x="9107424" y="2871216"/>
            <a:ext cx="2386584" cy="310896"/>
          </a:xfrm>
          <a:prstGeom prst="rect">
            <a:avLst/>
          </a:prstGeom>
          <a:noFill/>
          <a:ln/>
        </p:spPr>
        <p:txBody>
          <a:bodyPr wrap="square" lIns="0" tIns="0" rIns="0" bIns="0" rtlCol="0" anchor="ctr"/>
          <a:lstStyle/>
          <a:p>
            <a:pPr algn="ctr" indent="0" marL="0">
              <a:buNone/>
            </a:pPr>
            <a:r>
              <a:rPr lang="en-US" sz="1450" b="1" dirty="0">
                <a:solidFill>
                  <a:srgbClr val="005071"/>
                </a:solidFill>
                <a:latin typeface="Calibri" pitchFamily="34" charset="0"/>
                <a:ea typeface="Calibri" pitchFamily="34" charset="-122"/>
                <a:cs typeface="Calibri" pitchFamily="34" charset="-120"/>
              </a:rPr>
              <a:t>Rules engine</a:t>
            </a:r>
            <a:endParaRPr lang="en-US" sz="1450" dirty="0"/>
          </a:p>
        </p:txBody>
      </p:sp>
      <p:sp>
        <p:nvSpPr>
          <p:cNvPr id="26" name="Text 23"/>
          <p:cNvSpPr/>
          <p:nvPr/>
        </p:nvSpPr>
        <p:spPr>
          <a:xfrm>
            <a:off x="9144000" y="3236976"/>
            <a:ext cx="2313432" cy="1005840"/>
          </a:xfrm>
          <a:prstGeom prst="rect">
            <a:avLst/>
          </a:prstGeom>
          <a:noFill/>
          <a:ln/>
        </p:spPr>
        <p:txBody>
          <a:bodyPr wrap="square" lIns="0" tIns="0" rIns="0" bIns="0" rtlCol="0" anchor="t"/>
          <a:lstStyle/>
          <a:p>
            <a:pPr algn="ctr" indent="0" marL="0">
              <a:buNone/>
            </a:pPr>
            <a:r>
              <a:rPr lang="en-US" sz="1150" dirty="0">
                <a:solidFill>
                  <a:srgbClr val="2E3643"/>
                </a:solidFill>
                <a:latin typeface="Calibri" pitchFamily="34" charset="0"/>
                <a:ea typeface="Calibri" pitchFamily="34" charset="-122"/>
                <a:cs typeface="Calibri" pitchFamily="34" charset="-120"/>
              </a:rPr>
              <a:t>Applies carrier-approved guidelines in a controlled, versioned way.</a:t>
            </a:r>
            <a:endParaRPr lang="en-US" sz="1150" dirty="0"/>
          </a:p>
        </p:txBody>
      </p:sp>
      <p:sp>
        <p:nvSpPr>
          <p:cNvPr id="27" name="Shape 24"/>
          <p:cNvSpPr/>
          <p:nvPr/>
        </p:nvSpPr>
        <p:spPr>
          <a:xfrm>
            <a:off x="566928" y="4352544"/>
            <a:ext cx="11073384" cy="1005840"/>
          </a:xfrm>
          <a:prstGeom prst="roundRect">
            <a:avLst>
              <a:gd name="adj" fmla="val 4545"/>
            </a:avLst>
          </a:prstGeom>
          <a:solidFill>
            <a:srgbClr val="005071"/>
          </a:solidFill>
          <a:ln w="12700">
            <a:solidFill>
              <a:srgbClr val="005071"/>
            </a:solidFill>
            <a:prstDash val="solid"/>
          </a:ln>
        </p:spPr>
      </p:sp>
      <p:sp>
        <p:nvSpPr>
          <p:cNvPr id="28" name="Text 25"/>
          <p:cNvSpPr/>
          <p:nvPr/>
        </p:nvSpPr>
        <p:spPr>
          <a:xfrm>
            <a:off x="868680" y="4517136"/>
            <a:ext cx="45720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Human-in-the-loop by design</a:t>
            </a:r>
            <a:endParaRPr lang="en-US" sz="1400" dirty="0"/>
          </a:p>
        </p:txBody>
      </p:sp>
      <p:sp>
        <p:nvSpPr>
          <p:cNvPr id="29" name="Text 26"/>
          <p:cNvSpPr/>
          <p:nvPr/>
        </p:nvSpPr>
        <p:spPr>
          <a:xfrm>
            <a:off x="868680" y="4846320"/>
            <a:ext cx="10424160" cy="329184"/>
          </a:xfrm>
          <a:prstGeom prst="rect">
            <a:avLst/>
          </a:prstGeom>
          <a:noFill/>
          <a:ln/>
        </p:spPr>
        <p:txBody>
          <a:bodyPr wrap="square" lIns="0" tIns="0" rIns="0" bIns="0" rtlCol="0" anchor="ctr"/>
          <a:lstStyle/>
          <a:p>
            <a:pPr indent="0" marL="0">
              <a:buNone/>
            </a:pPr>
            <a:r>
              <a:rPr lang="en-US" sz="1200" dirty="0">
                <a:solidFill>
                  <a:srgbClr val="DCF3FA"/>
                </a:solidFill>
                <a:latin typeface="Calibri" pitchFamily="34" charset="0"/>
                <a:ea typeface="Calibri" pitchFamily="34" charset="-122"/>
                <a:cs typeface="Calibri" pitchFamily="34" charset="-120"/>
              </a:rPr>
              <a:t>The system prepares the evidence and the recommendation — the underwriter makes the decision.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03  ·  HOW IT WORKS</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From Received Documents to a Reviewer-Ready Packet</a:t>
            </a:r>
            <a:endParaRPr lang="en-US" sz="3000" dirty="0"/>
          </a:p>
        </p:txBody>
      </p:sp>
      <p:sp>
        <p:nvSpPr>
          <p:cNvPr id="4" name="Text 2"/>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4</a:t>
            </a:r>
            <a:endParaRPr lang="en-US" sz="800" dirty="0"/>
          </a:p>
        </p:txBody>
      </p:sp>
      <p:pic>
        <p:nvPicPr>
          <p:cNvPr id="5"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6" name="Shape 3"/>
          <p:cNvSpPr/>
          <p:nvPr/>
        </p:nvSpPr>
        <p:spPr>
          <a:xfrm>
            <a:off x="566928" y="1783080"/>
            <a:ext cx="2679192" cy="2697480"/>
          </a:xfrm>
          <a:prstGeom prst="roundRect">
            <a:avLst>
              <a:gd name="adj" fmla="val 2048"/>
            </a:avLst>
          </a:prstGeom>
          <a:solidFill>
            <a:srgbClr val="DCF3FA"/>
          </a:solidFill>
          <a:ln w="9525">
            <a:solidFill>
              <a:srgbClr val="B3D9E8"/>
            </a:solidFill>
            <a:prstDash val="solid"/>
          </a:ln>
        </p:spPr>
      </p:sp>
      <p:sp>
        <p:nvSpPr>
          <p:cNvPr id="7" name="Shape 4"/>
          <p:cNvSpPr/>
          <p:nvPr/>
        </p:nvSpPr>
        <p:spPr>
          <a:xfrm>
            <a:off x="768096" y="1984248"/>
            <a:ext cx="530352" cy="530352"/>
          </a:xfrm>
          <a:prstGeom prst="ellipse">
            <a:avLst/>
          </a:prstGeom>
          <a:solidFill>
            <a:srgbClr val="FB4E0B"/>
          </a:solidFill>
          <a:ln w="12700">
            <a:solidFill>
              <a:srgbClr val="FB4E0B"/>
            </a:solidFill>
            <a:prstDash val="solid"/>
          </a:ln>
        </p:spPr>
      </p:sp>
      <p:sp>
        <p:nvSpPr>
          <p:cNvPr id="8" name="Text 5"/>
          <p:cNvSpPr/>
          <p:nvPr/>
        </p:nvSpPr>
        <p:spPr>
          <a:xfrm>
            <a:off x="768096" y="198424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p:nvPr/>
        </p:nvSpPr>
        <p:spPr>
          <a:xfrm>
            <a:off x="1408176" y="2057400"/>
            <a:ext cx="1673352" cy="384048"/>
          </a:xfrm>
          <a:prstGeom prst="rect">
            <a:avLst/>
          </a:prstGeom>
          <a:noFill/>
          <a:ln/>
        </p:spPr>
        <p:txBody>
          <a:bodyPr wrap="square" lIns="0" tIns="0" rIns="0" bIns="0" rtlCol="0" anchor="ctr"/>
          <a:lstStyle/>
          <a:p>
            <a:pPr indent="0" marL="0">
              <a:buNone/>
            </a:pPr>
            <a:r>
              <a:rPr lang="en-US" sz="1450" b="1" dirty="0">
                <a:solidFill>
                  <a:srgbClr val="005071"/>
                </a:solidFill>
                <a:latin typeface="Calibri" pitchFamily="34" charset="0"/>
                <a:ea typeface="Calibri" pitchFamily="34" charset="-122"/>
                <a:cs typeface="Calibri" pitchFamily="34" charset="-120"/>
              </a:rPr>
              <a:t>Ingest &amp; extract</a:t>
            </a:r>
            <a:endParaRPr lang="en-US" sz="1450" dirty="0"/>
          </a:p>
        </p:txBody>
      </p:sp>
      <p:sp>
        <p:nvSpPr>
          <p:cNvPr id="10" name="Text 7"/>
          <p:cNvSpPr/>
          <p:nvPr/>
        </p:nvSpPr>
        <p:spPr>
          <a:xfrm>
            <a:off x="768096" y="2697480"/>
            <a:ext cx="2276856" cy="16002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Documents and case data are received</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OCR converts scanned files into usable text</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Claude extracts diagnoses, medications, lab results, dates, policy and claim details, and risk indicators</a:t>
            </a:r>
            <a:endParaRPr lang="en-US" sz="1100" dirty="0"/>
          </a:p>
        </p:txBody>
      </p:sp>
      <p:sp>
        <p:nvSpPr>
          <p:cNvPr id="11" name="Shape 8"/>
          <p:cNvSpPr/>
          <p:nvPr/>
        </p:nvSpPr>
        <p:spPr>
          <a:xfrm>
            <a:off x="3364992" y="1783080"/>
            <a:ext cx="2679192" cy="2697480"/>
          </a:xfrm>
          <a:prstGeom prst="roundRect">
            <a:avLst>
              <a:gd name="adj" fmla="val 2048"/>
            </a:avLst>
          </a:prstGeom>
          <a:solidFill>
            <a:srgbClr val="DCF3FA"/>
          </a:solidFill>
          <a:ln w="9525">
            <a:solidFill>
              <a:srgbClr val="B3D9E8"/>
            </a:solidFill>
            <a:prstDash val="solid"/>
          </a:ln>
        </p:spPr>
      </p:sp>
      <p:sp>
        <p:nvSpPr>
          <p:cNvPr id="12" name="Shape 9"/>
          <p:cNvSpPr/>
          <p:nvPr/>
        </p:nvSpPr>
        <p:spPr>
          <a:xfrm>
            <a:off x="3566160" y="1984248"/>
            <a:ext cx="530352" cy="530352"/>
          </a:xfrm>
          <a:prstGeom prst="ellipse">
            <a:avLst/>
          </a:prstGeom>
          <a:solidFill>
            <a:srgbClr val="FB4E0B"/>
          </a:solidFill>
          <a:ln w="12700">
            <a:solidFill>
              <a:srgbClr val="FB4E0B"/>
            </a:solidFill>
            <a:prstDash val="solid"/>
          </a:ln>
        </p:spPr>
      </p:sp>
      <p:sp>
        <p:nvSpPr>
          <p:cNvPr id="13" name="Text 10"/>
          <p:cNvSpPr/>
          <p:nvPr/>
        </p:nvSpPr>
        <p:spPr>
          <a:xfrm>
            <a:off x="3566160" y="198424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4206240" y="2057400"/>
            <a:ext cx="1673352" cy="384048"/>
          </a:xfrm>
          <a:prstGeom prst="rect">
            <a:avLst/>
          </a:prstGeom>
          <a:noFill/>
          <a:ln/>
        </p:spPr>
        <p:txBody>
          <a:bodyPr wrap="square" lIns="0" tIns="0" rIns="0" bIns="0" rtlCol="0" anchor="ctr"/>
          <a:lstStyle/>
          <a:p>
            <a:pPr indent="0" marL="0">
              <a:buNone/>
            </a:pPr>
            <a:r>
              <a:rPr lang="en-US" sz="1450" b="1" dirty="0">
                <a:solidFill>
                  <a:srgbClr val="005071"/>
                </a:solidFill>
                <a:latin typeface="Calibri" pitchFamily="34" charset="0"/>
                <a:ea typeface="Calibri" pitchFamily="34" charset="-122"/>
                <a:cs typeface="Calibri" pitchFamily="34" charset="-120"/>
              </a:rPr>
              <a:t>Normalize &amp; cite</a:t>
            </a:r>
            <a:endParaRPr lang="en-US" sz="1450" dirty="0"/>
          </a:p>
        </p:txBody>
      </p:sp>
      <p:sp>
        <p:nvSpPr>
          <p:cNvPr id="15" name="Text 12"/>
          <p:cNvSpPr/>
          <p:nvPr/>
        </p:nvSpPr>
        <p:spPr>
          <a:xfrm>
            <a:off x="3566160" y="2697480"/>
            <a:ext cx="2276856" cy="16002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Findings normalized into a structured evidence model</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Each linked to source document, page, date, value and confidence score</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Builds a transparent medical / claims timeline</a:t>
            </a:r>
            <a:endParaRPr lang="en-US" sz="1100" dirty="0"/>
          </a:p>
        </p:txBody>
      </p:sp>
      <p:sp>
        <p:nvSpPr>
          <p:cNvPr id="16" name="Shape 13"/>
          <p:cNvSpPr/>
          <p:nvPr/>
        </p:nvSpPr>
        <p:spPr>
          <a:xfrm>
            <a:off x="6163056" y="1783080"/>
            <a:ext cx="2679192" cy="2697480"/>
          </a:xfrm>
          <a:prstGeom prst="roundRect">
            <a:avLst>
              <a:gd name="adj" fmla="val 2048"/>
            </a:avLst>
          </a:prstGeom>
          <a:solidFill>
            <a:srgbClr val="DCF3FA"/>
          </a:solidFill>
          <a:ln w="9525">
            <a:solidFill>
              <a:srgbClr val="B3D9E8"/>
            </a:solidFill>
            <a:prstDash val="solid"/>
          </a:ln>
        </p:spPr>
      </p:sp>
      <p:sp>
        <p:nvSpPr>
          <p:cNvPr id="17" name="Shape 14"/>
          <p:cNvSpPr/>
          <p:nvPr/>
        </p:nvSpPr>
        <p:spPr>
          <a:xfrm>
            <a:off x="6364224" y="1984248"/>
            <a:ext cx="530352" cy="530352"/>
          </a:xfrm>
          <a:prstGeom prst="ellipse">
            <a:avLst/>
          </a:prstGeom>
          <a:solidFill>
            <a:srgbClr val="FB4E0B"/>
          </a:solidFill>
          <a:ln w="12700">
            <a:solidFill>
              <a:srgbClr val="FB4E0B"/>
            </a:solidFill>
            <a:prstDash val="solid"/>
          </a:ln>
        </p:spPr>
      </p:sp>
      <p:sp>
        <p:nvSpPr>
          <p:cNvPr id="18" name="Text 15"/>
          <p:cNvSpPr/>
          <p:nvPr/>
        </p:nvSpPr>
        <p:spPr>
          <a:xfrm>
            <a:off x="6364224" y="198424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6"/>
          <p:cNvSpPr/>
          <p:nvPr/>
        </p:nvSpPr>
        <p:spPr>
          <a:xfrm>
            <a:off x="7004304" y="2057400"/>
            <a:ext cx="1673352" cy="384048"/>
          </a:xfrm>
          <a:prstGeom prst="rect">
            <a:avLst/>
          </a:prstGeom>
          <a:noFill/>
          <a:ln/>
        </p:spPr>
        <p:txBody>
          <a:bodyPr wrap="square" lIns="0" tIns="0" rIns="0" bIns="0" rtlCol="0" anchor="ctr"/>
          <a:lstStyle/>
          <a:p>
            <a:pPr indent="0" marL="0">
              <a:buNone/>
            </a:pPr>
            <a:r>
              <a:rPr lang="en-US" sz="1450" b="1" dirty="0">
                <a:solidFill>
                  <a:srgbClr val="005071"/>
                </a:solidFill>
                <a:latin typeface="Calibri" pitchFamily="34" charset="0"/>
                <a:ea typeface="Calibri" pitchFamily="34" charset="-122"/>
                <a:cs typeface="Calibri" pitchFamily="34" charset="-120"/>
              </a:rPr>
              <a:t>Validate</a:t>
            </a:r>
            <a:endParaRPr lang="en-US" sz="1450" dirty="0"/>
          </a:p>
        </p:txBody>
      </p:sp>
      <p:sp>
        <p:nvSpPr>
          <p:cNvPr id="20" name="Text 17"/>
          <p:cNvSpPr/>
          <p:nvPr/>
        </p:nvSpPr>
        <p:spPr>
          <a:xfrm>
            <a:off x="6364224" y="2697480"/>
            <a:ext cx="2276856" cy="16002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Checks evidence is complete and consistent</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Missing, conflicting, outdated or uncertain input blocks a recommendation</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Raises a targeted request for the exact evidence needed</a:t>
            </a:r>
            <a:endParaRPr lang="en-US" sz="1100" dirty="0"/>
          </a:p>
        </p:txBody>
      </p:sp>
      <p:sp>
        <p:nvSpPr>
          <p:cNvPr id="21" name="Shape 18"/>
          <p:cNvSpPr/>
          <p:nvPr/>
        </p:nvSpPr>
        <p:spPr>
          <a:xfrm>
            <a:off x="8961120" y="1783080"/>
            <a:ext cx="2679192" cy="2697480"/>
          </a:xfrm>
          <a:prstGeom prst="roundRect">
            <a:avLst>
              <a:gd name="adj" fmla="val 2048"/>
            </a:avLst>
          </a:prstGeom>
          <a:solidFill>
            <a:srgbClr val="DCF3FA"/>
          </a:solidFill>
          <a:ln w="9525">
            <a:solidFill>
              <a:srgbClr val="B3D9E8"/>
            </a:solidFill>
            <a:prstDash val="solid"/>
          </a:ln>
        </p:spPr>
      </p:sp>
      <p:sp>
        <p:nvSpPr>
          <p:cNvPr id="22" name="Shape 19"/>
          <p:cNvSpPr/>
          <p:nvPr/>
        </p:nvSpPr>
        <p:spPr>
          <a:xfrm>
            <a:off x="9162288" y="1984248"/>
            <a:ext cx="530352" cy="530352"/>
          </a:xfrm>
          <a:prstGeom prst="ellipse">
            <a:avLst/>
          </a:prstGeom>
          <a:solidFill>
            <a:srgbClr val="FB4E0B"/>
          </a:solidFill>
          <a:ln w="12700">
            <a:solidFill>
              <a:srgbClr val="FB4E0B"/>
            </a:solidFill>
            <a:prstDash val="solid"/>
          </a:ln>
        </p:spPr>
      </p:sp>
      <p:sp>
        <p:nvSpPr>
          <p:cNvPr id="23" name="Text 20"/>
          <p:cNvSpPr/>
          <p:nvPr/>
        </p:nvSpPr>
        <p:spPr>
          <a:xfrm>
            <a:off x="9162288" y="198424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4" name="Text 21"/>
          <p:cNvSpPr/>
          <p:nvPr/>
        </p:nvSpPr>
        <p:spPr>
          <a:xfrm>
            <a:off x="9802368" y="2057400"/>
            <a:ext cx="1673352" cy="384048"/>
          </a:xfrm>
          <a:prstGeom prst="rect">
            <a:avLst/>
          </a:prstGeom>
          <a:noFill/>
          <a:ln/>
        </p:spPr>
        <p:txBody>
          <a:bodyPr wrap="square" lIns="0" tIns="0" rIns="0" bIns="0" rtlCol="0" anchor="ctr"/>
          <a:lstStyle/>
          <a:p>
            <a:pPr indent="0" marL="0">
              <a:buNone/>
            </a:pPr>
            <a:r>
              <a:rPr lang="en-US" sz="1450" b="1" dirty="0">
                <a:solidFill>
                  <a:srgbClr val="005071"/>
                </a:solidFill>
                <a:latin typeface="Calibri" pitchFamily="34" charset="0"/>
                <a:ea typeface="Calibri" pitchFamily="34" charset="-122"/>
                <a:cs typeface="Calibri" pitchFamily="34" charset="-120"/>
              </a:rPr>
              <a:t>Decide</a:t>
            </a:r>
            <a:endParaRPr lang="en-US" sz="1450" dirty="0"/>
          </a:p>
        </p:txBody>
      </p:sp>
      <p:sp>
        <p:nvSpPr>
          <p:cNvPr id="25" name="Text 22"/>
          <p:cNvSpPr/>
          <p:nvPr/>
        </p:nvSpPr>
        <p:spPr>
          <a:xfrm>
            <a:off x="9162288" y="2697480"/>
            <a:ext cx="2276856" cy="16002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Retrieves carrier-approved guidelines</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Applies them through a controlled rules engine</a:t>
            </a:r>
            <a:endParaRPr lang="en-US" sz="1100" dirty="0"/>
          </a:p>
          <a:p>
            <a:pPr marL="342900" indent="-342900">
              <a:lnSpc>
                <a:spcPct val="105000"/>
              </a:lnSpc>
              <a:spcAft>
                <a:spcPts val="500"/>
              </a:spcAft>
              <a:buSzPct val="100000"/>
              <a:buChar char="•"/>
            </a:pPr>
            <a:r>
              <a:rPr lang="en-US" sz="1100" dirty="0">
                <a:solidFill>
                  <a:srgbClr val="2E3643"/>
                </a:solidFill>
                <a:latin typeface="Calibri" pitchFamily="34" charset="0"/>
                <a:ea typeface="Calibri" pitchFamily="34" charset="-122"/>
                <a:cs typeface="Calibri" pitchFamily="34" charset="-120"/>
              </a:rPr>
              <a:t>Claude drafts the Decision Packet for review</a:t>
            </a:r>
            <a:endParaRPr lang="en-US" sz="1100" dirty="0"/>
          </a:p>
        </p:txBody>
      </p:sp>
      <p:sp>
        <p:nvSpPr>
          <p:cNvPr id="26" name="Text 23"/>
          <p:cNvSpPr/>
          <p:nvPr/>
        </p:nvSpPr>
        <p:spPr>
          <a:xfrm>
            <a:off x="566928" y="4718304"/>
            <a:ext cx="11073384" cy="310896"/>
          </a:xfrm>
          <a:prstGeom prst="rect">
            <a:avLst/>
          </a:prstGeom>
          <a:noFill/>
          <a:ln/>
        </p:spPr>
        <p:txBody>
          <a:bodyPr wrap="square" lIns="0" tIns="0" rIns="0" bIns="0" rtlCol="0" anchor="ctr"/>
          <a:lstStyle/>
          <a:p>
            <a:pPr indent="0" marL="0">
              <a:buNone/>
            </a:pPr>
            <a:r>
              <a:rPr lang="en-US" sz="1200" b="1" dirty="0">
                <a:solidFill>
                  <a:srgbClr val="005071"/>
                </a:solidFill>
                <a:latin typeface="Calibri" pitchFamily="34" charset="0"/>
                <a:ea typeface="Calibri" pitchFamily="34" charset="-122"/>
                <a:cs typeface="Calibri" pitchFamily="34" charset="-120"/>
              </a:rPr>
              <a:t>No unsupported recommendations: if the evidence does not support a conclusion, the case is routed for review instead.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04  ·  TRACEABILITY</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Every Finding Links Back to Its Source</a:t>
            </a:r>
            <a:endParaRPr lang="en-US" sz="3000" dirty="0"/>
          </a:p>
        </p:txBody>
      </p:sp>
      <p:sp>
        <p:nvSpPr>
          <p:cNvPr id="4" name="Text 2"/>
          <p:cNvSpPr/>
          <p:nvPr/>
        </p:nvSpPr>
        <p:spPr>
          <a:xfrm>
            <a:off x="566928" y="1243584"/>
            <a:ext cx="10881360" cy="310896"/>
          </a:xfrm>
          <a:prstGeom prst="rect">
            <a:avLst/>
          </a:prstGeom>
          <a:noFill/>
          <a:ln/>
        </p:spPr>
        <p:txBody>
          <a:bodyPr wrap="square" lIns="0" tIns="0" rIns="0" bIns="0" rtlCol="0" anchor="ctr"/>
          <a:lstStyle/>
          <a:p>
            <a:pPr indent="0" marL="0">
              <a:buNone/>
            </a:pPr>
            <a:r>
              <a:rPr lang="en-US" sz="1300" dirty="0">
                <a:solidFill>
                  <a:srgbClr val="2E3643"/>
                </a:solidFill>
                <a:latin typeface="Calibri" pitchFamily="34" charset="0"/>
                <a:ea typeface="Calibri" pitchFamily="34" charset="-122"/>
                <a:cs typeface="Calibri" pitchFamily="34" charset="-120"/>
              </a:rPr>
              <a:t>A structured evidence model the reviewer can validate at a glance.</a:t>
            </a:r>
            <a:endParaRPr lang="en-US" sz="1300" dirty="0"/>
          </a:p>
        </p:txBody>
      </p:sp>
      <p:sp>
        <p:nvSpPr>
          <p:cNvPr id="5" name="Text 3"/>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5</a:t>
            </a:r>
            <a:endParaRPr lang="en-US" sz="800" dirty="0"/>
          </a:p>
        </p:txBody>
      </p:sp>
      <p:pic>
        <p:nvPicPr>
          <p:cNvPr id="6"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7" name="Shape 4"/>
          <p:cNvSpPr/>
          <p:nvPr/>
        </p:nvSpPr>
        <p:spPr>
          <a:xfrm>
            <a:off x="566928" y="1847088"/>
            <a:ext cx="2103120" cy="749808"/>
          </a:xfrm>
          <a:prstGeom prst="roundRect">
            <a:avLst>
              <a:gd name="adj" fmla="val 9756"/>
            </a:avLst>
          </a:prstGeom>
          <a:solidFill>
            <a:srgbClr val="DCF3FA"/>
          </a:solidFill>
          <a:ln w="9525">
            <a:solidFill>
              <a:srgbClr val="B3D9E8"/>
            </a:solidFill>
            <a:prstDash val="solid"/>
          </a:ln>
        </p:spPr>
      </p:sp>
      <p:sp>
        <p:nvSpPr>
          <p:cNvPr id="8" name="Text 5"/>
          <p:cNvSpPr/>
          <p:nvPr/>
        </p:nvSpPr>
        <p:spPr>
          <a:xfrm>
            <a:off x="566928" y="1847088"/>
            <a:ext cx="2103120" cy="749808"/>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Source document</a:t>
            </a:r>
            <a:endParaRPr lang="en-US" sz="1200" dirty="0"/>
          </a:p>
        </p:txBody>
      </p:sp>
      <p:sp>
        <p:nvSpPr>
          <p:cNvPr id="9" name="Shape 6"/>
          <p:cNvSpPr/>
          <p:nvPr/>
        </p:nvSpPr>
        <p:spPr>
          <a:xfrm>
            <a:off x="2816352" y="1847088"/>
            <a:ext cx="2103120" cy="749808"/>
          </a:xfrm>
          <a:prstGeom prst="roundRect">
            <a:avLst>
              <a:gd name="adj" fmla="val 9756"/>
            </a:avLst>
          </a:prstGeom>
          <a:solidFill>
            <a:srgbClr val="DCF3FA"/>
          </a:solidFill>
          <a:ln w="9525">
            <a:solidFill>
              <a:srgbClr val="B3D9E8"/>
            </a:solidFill>
            <a:prstDash val="solid"/>
          </a:ln>
        </p:spPr>
      </p:sp>
      <p:sp>
        <p:nvSpPr>
          <p:cNvPr id="10" name="Text 7"/>
          <p:cNvSpPr/>
          <p:nvPr/>
        </p:nvSpPr>
        <p:spPr>
          <a:xfrm>
            <a:off x="2816352" y="1847088"/>
            <a:ext cx="2103120" cy="749808"/>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Page number</a:t>
            </a:r>
            <a:endParaRPr lang="en-US" sz="1200" dirty="0"/>
          </a:p>
        </p:txBody>
      </p:sp>
      <p:sp>
        <p:nvSpPr>
          <p:cNvPr id="11" name="Shape 8"/>
          <p:cNvSpPr/>
          <p:nvPr/>
        </p:nvSpPr>
        <p:spPr>
          <a:xfrm>
            <a:off x="5065776" y="1847088"/>
            <a:ext cx="2103120" cy="749808"/>
          </a:xfrm>
          <a:prstGeom prst="roundRect">
            <a:avLst>
              <a:gd name="adj" fmla="val 9756"/>
            </a:avLst>
          </a:prstGeom>
          <a:solidFill>
            <a:srgbClr val="DCF3FA"/>
          </a:solidFill>
          <a:ln w="9525">
            <a:solidFill>
              <a:srgbClr val="B3D9E8"/>
            </a:solidFill>
            <a:prstDash val="solid"/>
          </a:ln>
        </p:spPr>
      </p:sp>
      <p:sp>
        <p:nvSpPr>
          <p:cNvPr id="12" name="Text 9"/>
          <p:cNvSpPr/>
          <p:nvPr/>
        </p:nvSpPr>
        <p:spPr>
          <a:xfrm>
            <a:off x="5065776" y="1847088"/>
            <a:ext cx="2103120" cy="749808"/>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Date</a:t>
            </a:r>
            <a:endParaRPr lang="en-US" sz="1200" dirty="0"/>
          </a:p>
        </p:txBody>
      </p:sp>
      <p:sp>
        <p:nvSpPr>
          <p:cNvPr id="13" name="Shape 10"/>
          <p:cNvSpPr/>
          <p:nvPr/>
        </p:nvSpPr>
        <p:spPr>
          <a:xfrm>
            <a:off x="7315200" y="1847088"/>
            <a:ext cx="2103120" cy="749808"/>
          </a:xfrm>
          <a:prstGeom prst="roundRect">
            <a:avLst>
              <a:gd name="adj" fmla="val 9756"/>
            </a:avLst>
          </a:prstGeom>
          <a:solidFill>
            <a:srgbClr val="DCF3FA"/>
          </a:solidFill>
          <a:ln w="9525">
            <a:solidFill>
              <a:srgbClr val="B3D9E8"/>
            </a:solidFill>
            <a:prstDash val="solid"/>
          </a:ln>
        </p:spPr>
      </p:sp>
      <p:sp>
        <p:nvSpPr>
          <p:cNvPr id="14" name="Text 11"/>
          <p:cNvSpPr/>
          <p:nvPr/>
        </p:nvSpPr>
        <p:spPr>
          <a:xfrm>
            <a:off x="7315200" y="1847088"/>
            <a:ext cx="2103120" cy="749808"/>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Value</a:t>
            </a:r>
            <a:endParaRPr lang="en-US" sz="1200" dirty="0"/>
          </a:p>
        </p:txBody>
      </p:sp>
      <p:sp>
        <p:nvSpPr>
          <p:cNvPr id="15" name="Shape 12"/>
          <p:cNvSpPr/>
          <p:nvPr/>
        </p:nvSpPr>
        <p:spPr>
          <a:xfrm>
            <a:off x="9564624" y="1847088"/>
            <a:ext cx="2103120" cy="749808"/>
          </a:xfrm>
          <a:prstGeom prst="roundRect">
            <a:avLst>
              <a:gd name="adj" fmla="val 9756"/>
            </a:avLst>
          </a:prstGeom>
          <a:solidFill>
            <a:srgbClr val="DCF3FA"/>
          </a:solidFill>
          <a:ln w="9525">
            <a:solidFill>
              <a:srgbClr val="B3D9E8"/>
            </a:solidFill>
            <a:prstDash val="solid"/>
          </a:ln>
        </p:spPr>
      </p:sp>
      <p:sp>
        <p:nvSpPr>
          <p:cNvPr id="16" name="Text 13"/>
          <p:cNvSpPr/>
          <p:nvPr/>
        </p:nvSpPr>
        <p:spPr>
          <a:xfrm>
            <a:off x="9564624" y="1847088"/>
            <a:ext cx="2103120" cy="749808"/>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Confidence score</a:t>
            </a:r>
            <a:endParaRPr lang="en-US" sz="1200" dirty="0"/>
          </a:p>
        </p:txBody>
      </p:sp>
      <p:sp>
        <p:nvSpPr>
          <p:cNvPr id="17" name="Text 14"/>
          <p:cNvSpPr/>
          <p:nvPr/>
        </p:nvSpPr>
        <p:spPr>
          <a:xfrm>
            <a:off x="566928" y="2944368"/>
            <a:ext cx="7315200" cy="274320"/>
          </a:xfrm>
          <a:prstGeom prst="rect">
            <a:avLst/>
          </a:prstGeom>
          <a:noFill/>
          <a:ln/>
        </p:spPr>
        <p:txBody>
          <a:bodyPr wrap="square" lIns="0" tIns="0" rIns="0" bIns="0" rtlCol="0" anchor="ctr"/>
          <a:lstStyle/>
          <a:p>
            <a:pPr indent="0" marL="0">
              <a:buNone/>
            </a:pPr>
            <a:r>
              <a:rPr lang="en-US" sz="1300" b="1" dirty="0">
                <a:solidFill>
                  <a:srgbClr val="005071"/>
                </a:solidFill>
                <a:latin typeface="Calibri" pitchFamily="34" charset="0"/>
                <a:ea typeface="Calibri" pitchFamily="34" charset="-122"/>
                <a:cs typeface="Calibri" pitchFamily="34" charset="-120"/>
              </a:rPr>
              <a:t>Creates a transparent medical / claims timeline</a:t>
            </a:r>
            <a:endParaRPr lang="en-US" sz="1300" dirty="0"/>
          </a:p>
        </p:txBody>
      </p:sp>
      <p:sp>
        <p:nvSpPr>
          <p:cNvPr id="18" name="Shape 15"/>
          <p:cNvSpPr/>
          <p:nvPr/>
        </p:nvSpPr>
        <p:spPr>
          <a:xfrm>
            <a:off x="1051560" y="3730752"/>
            <a:ext cx="9948672" cy="0"/>
          </a:xfrm>
          <a:prstGeom prst="line">
            <a:avLst/>
          </a:prstGeom>
          <a:noFill/>
          <a:ln w="25400">
            <a:solidFill>
              <a:srgbClr val="B3D9E8"/>
            </a:solidFill>
            <a:prstDash val="solid"/>
          </a:ln>
        </p:spPr>
      </p:sp>
      <p:sp>
        <p:nvSpPr>
          <p:cNvPr id="19" name="Shape 16"/>
          <p:cNvSpPr/>
          <p:nvPr/>
        </p:nvSpPr>
        <p:spPr>
          <a:xfrm>
            <a:off x="950976" y="3630168"/>
            <a:ext cx="201168" cy="201168"/>
          </a:xfrm>
          <a:prstGeom prst="ellipse">
            <a:avLst/>
          </a:prstGeom>
          <a:solidFill>
            <a:srgbClr val="FB4E0B"/>
          </a:solidFill>
          <a:ln w="19050">
            <a:solidFill>
              <a:srgbClr val="FFFFFF"/>
            </a:solidFill>
            <a:prstDash val="solid"/>
          </a:ln>
        </p:spPr>
      </p:sp>
      <p:sp>
        <p:nvSpPr>
          <p:cNvPr id="20" name="Text 17"/>
          <p:cNvSpPr/>
          <p:nvPr/>
        </p:nvSpPr>
        <p:spPr>
          <a:xfrm>
            <a:off x="137160" y="3913632"/>
            <a:ext cx="1828800" cy="256032"/>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Application</a:t>
            </a:r>
            <a:endParaRPr lang="en-US" sz="1200" dirty="0"/>
          </a:p>
        </p:txBody>
      </p:sp>
      <p:sp>
        <p:nvSpPr>
          <p:cNvPr id="21" name="Text 18"/>
          <p:cNvSpPr/>
          <p:nvPr/>
        </p:nvSpPr>
        <p:spPr>
          <a:xfrm>
            <a:off x="137160" y="4160520"/>
            <a:ext cx="1828800" cy="256032"/>
          </a:xfrm>
          <a:prstGeom prst="rect">
            <a:avLst/>
          </a:prstGeom>
          <a:noFill/>
          <a:ln/>
        </p:spPr>
        <p:txBody>
          <a:bodyPr wrap="square" lIns="0" tIns="0" rIns="0" bIns="0" rtlCol="0" anchor="ctr"/>
          <a:lstStyle/>
          <a:p>
            <a:pPr algn="ctr" indent="0" marL="0">
              <a:buNone/>
            </a:pPr>
            <a:r>
              <a:rPr lang="en-US" sz="1050" dirty="0">
                <a:solidFill>
                  <a:srgbClr val="6C727B"/>
                </a:solidFill>
                <a:latin typeface="Calibri" pitchFamily="34" charset="0"/>
                <a:ea typeface="Calibri" pitchFamily="34" charset="-122"/>
                <a:cs typeface="Calibri" pitchFamily="34" charset="-120"/>
              </a:rPr>
              <a:t>policy &amp; face amount</a:t>
            </a:r>
            <a:endParaRPr lang="en-US" sz="1050" dirty="0"/>
          </a:p>
        </p:txBody>
      </p:sp>
      <p:sp>
        <p:nvSpPr>
          <p:cNvPr id="22" name="Shape 19"/>
          <p:cNvSpPr/>
          <p:nvPr/>
        </p:nvSpPr>
        <p:spPr>
          <a:xfrm>
            <a:off x="3438144" y="3630168"/>
            <a:ext cx="201168" cy="201168"/>
          </a:xfrm>
          <a:prstGeom prst="ellipse">
            <a:avLst/>
          </a:prstGeom>
          <a:solidFill>
            <a:srgbClr val="FB4E0B"/>
          </a:solidFill>
          <a:ln w="19050">
            <a:solidFill>
              <a:srgbClr val="FFFFFF"/>
            </a:solidFill>
            <a:prstDash val="solid"/>
          </a:ln>
        </p:spPr>
      </p:sp>
      <p:sp>
        <p:nvSpPr>
          <p:cNvPr id="23" name="Text 20"/>
          <p:cNvSpPr/>
          <p:nvPr/>
        </p:nvSpPr>
        <p:spPr>
          <a:xfrm>
            <a:off x="2624328" y="3913632"/>
            <a:ext cx="1828800" cy="256032"/>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APS</a:t>
            </a:r>
            <a:endParaRPr lang="en-US" sz="1200" dirty="0"/>
          </a:p>
        </p:txBody>
      </p:sp>
      <p:sp>
        <p:nvSpPr>
          <p:cNvPr id="24" name="Text 21"/>
          <p:cNvSpPr/>
          <p:nvPr/>
        </p:nvSpPr>
        <p:spPr>
          <a:xfrm>
            <a:off x="2624328" y="4160520"/>
            <a:ext cx="1828800" cy="256032"/>
          </a:xfrm>
          <a:prstGeom prst="rect">
            <a:avLst/>
          </a:prstGeom>
          <a:noFill/>
          <a:ln/>
        </p:spPr>
        <p:txBody>
          <a:bodyPr wrap="square" lIns="0" tIns="0" rIns="0" bIns="0" rtlCol="0" anchor="ctr"/>
          <a:lstStyle/>
          <a:p>
            <a:pPr algn="ctr" indent="0" marL="0">
              <a:buNone/>
            </a:pPr>
            <a:r>
              <a:rPr lang="en-US" sz="1050" dirty="0">
                <a:solidFill>
                  <a:srgbClr val="6C727B"/>
                </a:solidFill>
                <a:latin typeface="Calibri" pitchFamily="34" charset="0"/>
                <a:ea typeface="Calibri" pitchFamily="34" charset="-122"/>
                <a:cs typeface="Calibri" pitchFamily="34" charset="-120"/>
              </a:rPr>
              <a:t>diagnosis &amp; history</a:t>
            </a:r>
            <a:endParaRPr lang="en-US" sz="1050" dirty="0"/>
          </a:p>
        </p:txBody>
      </p:sp>
      <p:sp>
        <p:nvSpPr>
          <p:cNvPr id="25" name="Shape 22"/>
          <p:cNvSpPr/>
          <p:nvPr/>
        </p:nvSpPr>
        <p:spPr>
          <a:xfrm>
            <a:off x="5925312" y="3630168"/>
            <a:ext cx="201168" cy="201168"/>
          </a:xfrm>
          <a:prstGeom prst="ellipse">
            <a:avLst/>
          </a:prstGeom>
          <a:solidFill>
            <a:srgbClr val="FB4E0B"/>
          </a:solidFill>
          <a:ln w="19050">
            <a:solidFill>
              <a:srgbClr val="FFFFFF"/>
            </a:solidFill>
            <a:prstDash val="solid"/>
          </a:ln>
        </p:spPr>
      </p:sp>
      <p:sp>
        <p:nvSpPr>
          <p:cNvPr id="26" name="Text 23"/>
          <p:cNvSpPr/>
          <p:nvPr/>
        </p:nvSpPr>
        <p:spPr>
          <a:xfrm>
            <a:off x="5111496" y="3913632"/>
            <a:ext cx="1828800" cy="256032"/>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Labs</a:t>
            </a:r>
            <a:endParaRPr lang="en-US" sz="1200" dirty="0"/>
          </a:p>
        </p:txBody>
      </p:sp>
      <p:sp>
        <p:nvSpPr>
          <p:cNvPr id="27" name="Text 24"/>
          <p:cNvSpPr/>
          <p:nvPr/>
        </p:nvSpPr>
        <p:spPr>
          <a:xfrm>
            <a:off x="5111496" y="4160520"/>
            <a:ext cx="1828800" cy="256032"/>
          </a:xfrm>
          <a:prstGeom prst="rect">
            <a:avLst/>
          </a:prstGeom>
          <a:noFill/>
          <a:ln/>
        </p:spPr>
        <p:txBody>
          <a:bodyPr wrap="square" lIns="0" tIns="0" rIns="0" bIns="0" rtlCol="0" anchor="ctr"/>
          <a:lstStyle/>
          <a:p>
            <a:pPr algn="ctr" indent="0" marL="0">
              <a:buNone/>
            </a:pPr>
            <a:r>
              <a:rPr lang="en-US" sz="1050" dirty="0">
                <a:solidFill>
                  <a:srgbClr val="6C727B"/>
                </a:solidFill>
                <a:latin typeface="Calibri" pitchFamily="34" charset="0"/>
                <a:ea typeface="Calibri" pitchFamily="34" charset="-122"/>
                <a:cs typeface="Calibri" pitchFamily="34" charset="-120"/>
              </a:rPr>
              <a:t>values &amp; dates</a:t>
            </a:r>
            <a:endParaRPr lang="en-US" sz="1050" dirty="0"/>
          </a:p>
        </p:txBody>
      </p:sp>
      <p:sp>
        <p:nvSpPr>
          <p:cNvPr id="28" name="Shape 25"/>
          <p:cNvSpPr/>
          <p:nvPr/>
        </p:nvSpPr>
        <p:spPr>
          <a:xfrm>
            <a:off x="8412480" y="3630168"/>
            <a:ext cx="201168" cy="201168"/>
          </a:xfrm>
          <a:prstGeom prst="ellipse">
            <a:avLst/>
          </a:prstGeom>
          <a:solidFill>
            <a:srgbClr val="FB4E0B"/>
          </a:solidFill>
          <a:ln w="19050">
            <a:solidFill>
              <a:srgbClr val="FFFFFF"/>
            </a:solidFill>
            <a:prstDash val="solid"/>
          </a:ln>
        </p:spPr>
      </p:sp>
      <p:sp>
        <p:nvSpPr>
          <p:cNvPr id="29" name="Text 26"/>
          <p:cNvSpPr/>
          <p:nvPr/>
        </p:nvSpPr>
        <p:spPr>
          <a:xfrm>
            <a:off x="7598664" y="3913632"/>
            <a:ext cx="1828800" cy="256032"/>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MVR / MIB</a:t>
            </a:r>
            <a:endParaRPr lang="en-US" sz="1200" dirty="0"/>
          </a:p>
        </p:txBody>
      </p:sp>
      <p:sp>
        <p:nvSpPr>
          <p:cNvPr id="30" name="Text 27"/>
          <p:cNvSpPr/>
          <p:nvPr/>
        </p:nvSpPr>
        <p:spPr>
          <a:xfrm>
            <a:off x="7598664" y="4160520"/>
            <a:ext cx="1828800" cy="256032"/>
          </a:xfrm>
          <a:prstGeom prst="rect">
            <a:avLst/>
          </a:prstGeom>
          <a:noFill/>
          <a:ln/>
        </p:spPr>
        <p:txBody>
          <a:bodyPr wrap="square" lIns="0" tIns="0" rIns="0" bIns="0" rtlCol="0" anchor="ctr"/>
          <a:lstStyle/>
          <a:p>
            <a:pPr algn="ctr" indent="0" marL="0">
              <a:buNone/>
            </a:pPr>
            <a:r>
              <a:rPr lang="en-US" sz="1050" dirty="0">
                <a:solidFill>
                  <a:srgbClr val="6C727B"/>
                </a:solidFill>
                <a:latin typeface="Calibri" pitchFamily="34" charset="0"/>
                <a:ea typeface="Calibri" pitchFamily="34" charset="-122"/>
                <a:cs typeface="Calibri" pitchFamily="34" charset="-120"/>
              </a:rPr>
              <a:t>third-party checks</a:t>
            </a:r>
            <a:endParaRPr lang="en-US" sz="1050" dirty="0"/>
          </a:p>
        </p:txBody>
      </p:sp>
      <p:sp>
        <p:nvSpPr>
          <p:cNvPr id="31" name="Shape 28"/>
          <p:cNvSpPr/>
          <p:nvPr/>
        </p:nvSpPr>
        <p:spPr>
          <a:xfrm>
            <a:off x="10899648" y="3630168"/>
            <a:ext cx="201168" cy="201168"/>
          </a:xfrm>
          <a:prstGeom prst="ellipse">
            <a:avLst/>
          </a:prstGeom>
          <a:solidFill>
            <a:srgbClr val="FB4E0B"/>
          </a:solidFill>
          <a:ln w="19050">
            <a:solidFill>
              <a:srgbClr val="FFFFFF"/>
            </a:solidFill>
            <a:prstDash val="solid"/>
          </a:ln>
        </p:spPr>
      </p:sp>
      <p:sp>
        <p:nvSpPr>
          <p:cNvPr id="32" name="Text 29"/>
          <p:cNvSpPr/>
          <p:nvPr/>
        </p:nvSpPr>
        <p:spPr>
          <a:xfrm>
            <a:off x="10085832" y="3913632"/>
            <a:ext cx="1828800" cy="256032"/>
          </a:xfrm>
          <a:prstGeom prst="rect">
            <a:avLst/>
          </a:prstGeom>
          <a:noFill/>
          <a:ln/>
        </p:spPr>
        <p:txBody>
          <a:bodyPr wrap="square" lIns="0" tIns="0" rIns="0" bIns="0" rtlCol="0" anchor="ctr"/>
          <a:lstStyle/>
          <a:p>
            <a:pPr algn="ctr" indent="0" marL="0">
              <a:buNone/>
            </a:pPr>
            <a:r>
              <a:rPr lang="en-US" sz="1200" b="1" dirty="0">
                <a:solidFill>
                  <a:srgbClr val="005071"/>
                </a:solidFill>
                <a:latin typeface="Calibri" pitchFamily="34" charset="0"/>
                <a:ea typeface="Calibri" pitchFamily="34" charset="-122"/>
                <a:cs typeface="Calibri" pitchFamily="34" charset="-120"/>
              </a:rPr>
              <a:t>Prior UW</a:t>
            </a:r>
            <a:endParaRPr lang="en-US" sz="1200" dirty="0"/>
          </a:p>
        </p:txBody>
      </p:sp>
      <p:sp>
        <p:nvSpPr>
          <p:cNvPr id="33" name="Text 30"/>
          <p:cNvSpPr/>
          <p:nvPr/>
        </p:nvSpPr>
        <p:spPr>
          <a:xfrm>
            <a:off x="10085832" y="4160520"/>
            <a:ext cx="1828800" cy="256032"/>
          </a:xfrm>
          <a:prstGeom prst="rect">
            <a:avLst/>
          </a:prstGeom>
          <a:noFill/>
          <a:ln/>
        </p:spPr>
        <p:txBody>
          <a:bodyPr wrap="square" lIns="0" tIns="0" rIns="0" bIns="0" rtlCol="0" anchor="ctr"/>
          <a:lstStyle/>
          <a:p>
            <a:pPr algn="ctr" indent="0" marL="0">
              <a:buNone/>
            </a:pPr>
            <a:r>
              <a:rPr lang="en-US" sz="1050" dirty="0">
                <a:solidFill>
                  <a:srgbClr val="6C727B"/>
                </a:solidFill>
                <a:latin typeface="Calibri" pitchFamily="34" charset="0"/>
                <a:ea typeface="Calibri" pitchFamily="34" charset="-122"/>
                <a:cs typeface="Calibri" pitchFamily="34" charset="-120"/>
              </a:rPr>
              <a:t>earlier decisions</a:t>
            </a:r>
            <a:endParaRPr lang="en-US" sz="1050" dirty="0"/>
          </a:p>
        </p:txBody>
      </p:sp>
      <p:sp>
        <p:nvSpPr>
          <p:cNvPr id="34" name="Shape 31"/>
          <p:cNvSpPr/>
          <p:nvPr/>
        </p:nvSpPr>
        <p:spPr>
          <a:xfrm>
            <a:off x="566928" y="4736592"/>
            <a:ext cx="11073384" cy="786384"/>
          </a:xfrm>
          <a:prstGeom prst="roundRect">
            <a:avLst>
              <a:gd name="adj" fmla="val 6977"/>
            </a:avLst>
          </a:prstGeom>
          <a:solidFill>
            <a:srgbClr val="EEF9FD"/>
          </a:solidFill>
          <a:ln w="9525">
            <a:solidFill>
              <a:srgbClr val="B3D9E8"/>
            </a:solidFill>
            <a:prstDash val="solid"/>
          </a:ln>
        </p:spPr>
      </p:sp>
      <p:sp>
        <p:nvSpPr>
          <p:cNvPr id="35" name="Text 32"/>
          <p:cNvSpPr/>
          <p:nvPr/>
        </p:nvSpPr>
        <p:spPr>
          <a:xfrm>
            <a:off x="841248" y="4882896"/>
            <a:ext cx="2011680" cy="274320"/>
          </a:xfrm>
          <a:prstGeom prst="rect">
            <a:avLst/>
          </a:prstGeom>
          <a:noFill/>
          <a:ln/>
        </p:spPr>
        <p:txBody>
          <a:bodyPr wrap="square" lIns="0" tIns="0" rIns="0" bIns="0" rtlCol="0" anchor="ctr"/>
          <a:lstStyle/>
          <a:p>
            <a:pPr indent="0" marL="0">
              <a:buNone/>
            </a:pPr>
            <a:r>
              <a:rPr lang="en-US" sz="1300" b="1" dirty="0">
                <a:solidFill>
                  <a:srgbClr val="FB4E0B"/>
                </a:solidFill>
                <a:latin typeface="Calibri" pitchFamily="34" charset="0"/>
                <a:ea typeface="Calibri" pitchFamily="34" charset="-122"/>
                <a:cs typeface="Calibri" pitchFamily="34" charset="-120"/>
              </a:rPr>
              <a:t>Why it matters</a:t>
            </a:r>
            <a:endParaRPr lang="en-US" sz="1300" dirty="0"/>
          </a:p>
        </p:txBody>
      </p:sp>
      <p:sp>
        <p:nvSpPr>
          <p:cNvPr id="36" name="Text 33"/>
          <p:cNvSpPr/>
          <p:nvPr/>
        </p:nvSpPr>
        <p:spPr>
          <a:xfrm>
            <a:off x="2834640" y="4901184"/>
            <a:ext cx="8595360" cy="548640"/>
          </a:xfrm>
          <a:prstGeom prst="rect">
            <a:avLst/>
          </a:prstGeom>
          <a:noFill/>
          <a:ln/>
        </p:spPr>
        <p:txBody>
          <a:bodyPr wrap="square" lIns="0" tIns="0" rIns="0" bIns="0" rtlCol="0" anchor="t"/>
          <a:lstStyle/>
          <a:p>
            <a:pPr indent="0" marL="0">
              <a:buNone/>
            </a:pPr>
            <a:r>
              <a:rPr lang="en-US" sz="1200" dirty="0">
                <a:solidFill>
                  <a:srgbClr val="2E3643"/>
                </a:solidFill>
                <a:latin typeface="Calibri" pitchFamily="34" charset="0"/>
                <a:ea typeface="Calibri" pitchFamily="34" charset="-122"/>
                <a:cs typeface="Calibri" pitchFamily="34" charset="-120"/>
              </a:rPr>
              <a:t>Reviewers validate a conclusion in seconds instead of re-reading the file — and every packet is audit-ready by construction.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05  ·  GUARDRAILS</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The System Will Not Guess</a:t>
            </a:r>
            <a:endParaRPr lang="en-US" sz="3000" dirty="0"/>
          </a:p>
        </p:txBody>
      </p:sp>
      <p:sp>
        <p:nvSpPr>
          <p:cNvPr id="4" name="Text 2"/>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6</a:t>
            </a:r>
            <a:endParaRPr lang="en-US" sz="800" dirty="0"/>
          </a:p>
        </p:txBody>
      </p:sp>
      <p:pic>
        <p:nvPicPr>
          <p:cNvPr id="5"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6" name="Shape 3"/>
          <p:cNvSpPr/>
          <p:nvPr/>
        </p:nvSpPr>
        <p:spPr>
          <a:xfrm>
            <a:off x="566928" y="1572768"/>
            <a:ext cx="5440680" cy="2578608"/>
          </a:xfrm>
          <a:prstGeom prst="roundRect">
            <a:avLst>
              <a:gd name="adj" fmla="val 2128"/>
            </a:avLst>
          </a:prstGeom>
          <a:solidFill>
            <a:srgbClr val="DCF3FA"/>
          </a:solidFill>
          <a:ln w="9525">
            <a:solidFill>
              <a:srgbClr val="B3D9E8"/>
            </a:solidFill>
            <a:prstDash val="solid"/>
          </a:ln>
        </p:spPr>
      </p:sp>
      <p:sp>
        <p:nvSpPr>
          <p:cNvPr id="7" name="Text 4"/>
          <p:cNvSpPr/>
          <p:nvPr/>
        </p:nvSpPr>
        <p:spPr>
          <a:xfrm>
            <a:off x="841248" y="1773936"/>
            <a:ext cx="4937760" cy="292608"/>
          </a:xfrm>
          <a:prstGeom prst="rect">
            <a:avLst/>
          </a:prstGeom>
          <a:noFill/>
          <a:ln/>
        </p:spPr>
        <p:txBody>
          <a:bodyPr wrap="square" lIns="0" tIns="0" rIns="0" bIns="0" rtlCol="0" anchor="ctr"/>
          <a:lstStyle/>
          <a:p>
            <a:pPr algn="l" indent="0" marL="0">
              <a:buNone/>
            </a:pPr>
            <a:r>
              <a:rPr lang="en-US" sz="1500" b="1" dirty="0">
                <a:solidFill>
                  <a:srgbClr val="005071"/>
                </a:solidFill>
                <a:latin typeface="Calibri" pitchFamily="34" charset="0"/>
                <a:ea typeface="Calibri" pitchFamily="34" charset="-122"/>
                <a:cs typeface="Calibri" pitchFamily="34" charset="-120"/>
              </a:rPr>
              <a:t>When evidence is incomplete</a:t>
            </a:r>
            <a:endParaRPr lang="en-US" sz="1500" dirty="0"/>
          </a:p>
        </p:txBody>
      </p:sp>
      <p:sp>
        <p:nvSpPr>
          <p:cNvPr id="8" name="Text 5"/>
          <p:cNvSpPr/>
          <p:nvPr/>
        </p:nvSpPr>
        <p:spPr>
          <a:xfrm>
            <a:off x="841248" y="2139696"/>
            <a:ext cx="4892040" cy="457200"/>
          </a:xfrm>
          <a:prstGeom prst="rect">
            <a:avLst/>
          </a:prstGeom>
          <a:noFill/>
          <a:ln/>
        </p:spPr>
        <p:txBody>
          <a:bodyPr wrap="square" lIns="0" tIns="0" rIns="0" bIns="0" rtlCol="0" anchor="t"/>
          <a:lstStyle/>
          <a:p>
            <a:pPr indent="0" marL="0">
              <a:buNone/>
            </a:pPr>
            <a:r>
              <a:rPr lang="en-US" sz="1150" dirty="0">
                <a:solidFill>
                  <a:srgbClr val="2E3643"/>
                </a:solidFill>
                <a:latin typeface="Calibri" pitchFamily="34" charset="0"/>
                <a:ea typeface="Calibri" pitchFamily="34" charset="-122"/>
                <a:cs typeface="Calibri" pitchFamily="34" charset="-120"/>
              </a:rPr>
              <a:t>The tool checks completeness and consistency on every case. It flags evidence that is:</a:t>
            </a:r>
            <a:endParaRPr lang="en-US" sz="1150" dirty="0"/>
          </a:p>
        </p:txBody>
      </p:sp>
      <p:sp>
        <p:nvSpPr>
          <p:cNvPr id="9" name="Shape 6"/>
          <p:cNvSpPr/>
          <p:nvPr/>
        </p:nvSpPr>
        <p:spPr>
          <a:xfrm>
            <a:off x="841248" y="2670048"/>
            <a:ext cx="2286000" cy="457200"/>
          </a:xfrm>
          <a:prstGeom prst="roundRect">
            <a:avLst>
              <a:gd name="adj" fmla="val 20000"/>
            </a:avLst>
          </a:prstGeom>
          <a:solidFill>
            <a:srgbClr val="FFFFFF"/>
          </a:solidFill>
          <a:ln w="12700">
            <a:solidFill>
              <a:srgbClr val="FB4E0B"/>
            </a:solidFill>
            <a:prstDash val="solid"/>
          </a:ln>
        </p:spPr>
      </p:sp>
      <p:sp>
        <p:nvSpPr>
          <p:cNvPr id="10" name="Text 7"/>
          <p:cNvSpPr/>
          <p:nvPr/>
        </p:nvSpPr>
        <p:spPr>
          <a:xfrm>
            <a:off x="841248" y="2670048"/>
            <a:ext cx="2286000" cy="457200"/>
          </a:xfrm>
          <a:prstGeom prst="rect">
            <a:avLst/>
          </a:prstGeom>
          <a:noFill/>
          <a:ln/>
        </p:spPr>
        <p:txBody>
          <a:bodyPr wrap="square" lIns="0" tIns="0" rIns="0" bIns="0" rtlCol="0" anchor="ctr"/>
          <a:lstStyle/>
          <a:p>
            <a:pPr algn="ctr" indent="0" marL="0">
              <a:buNone/>
            </a:pPr>
            <a:r>
              <a:rPr lang="en-US" sz="1250" b="1" dirty="0">
                <a:solidFill>
                  <a:srgbClr val="FB4E0B"/>
                </a:solidFill>
                <a:latin typeface="Calibri" pitchFamily="34" charset="0"/>
                <a:ea typeface="Calibri" pitchFamily="34" charset="-122"/>
                <a:cs typeface="Calibri" pitchFamily="34" charset="-120"/>
              </a:rPr>
              <a:t>Missing</a:t>
            </a:r>
            <a:endParaRPr lang="en-US" sz="1250" dirty="0"/>
          </a:p>
        </p:txBody>
      </p:sp>
      <p:sp>
        <p:nvSpPr>
          <p:cNvPr id="11" name="Shape 8"/>
          <p:cNvSpPr/>
          <p:nvPr/>
        </p:nvSpPr>
        <p:spPr>
          <a:xfrm>
            <a:off x="3310128" y="2670048"/>
            <a:ext cx="2286000" cy="457200"/>
          </a:xfrm>
          <a:prstGeom prst="roundRect">
            <a:avLst>
              <a:gd name="adj" fmla="val 20000"/>
            </a:avLst>
          </a:prstGeom>
          <a:solidFill>
            <a:srgbClr val="FFFFFF"/>
          </a:solidFill>
          <a:ln w="12700">
            <a:solidFill>
              <a:srgbClr val="FB4E0B"/>
            </a:solidFill>
            <a:prstDash val="solid"/>
          </a:ln>
        </p:spPr>
      </p:sp>
      <p:sp>
        <p:nvSpPr>
          <p:cNvPr id="12" name="Text 9"/>
          <p:cNvSpPr/>
          <p:nvPr/>
        </p:nvSpPr>
        <p:spPr>
          <a:xfrm>
            <a:off x="3310128" y="2670048"/>
            <a:ext cx="2286000" cy="457200"/>
          </a:xfrm>
          <a:prstGeom prst="rect">
            <a:avLst/>
          </a:prstGeom>
          <a:noFill/>
          <a:ln/>
        </p:spPr>
        <p:txBody>
          <a:bodyPr wrap="square" lIns="0" tIns="0" rIns="0" bIns="0" rtlCol="0" anchor="ctr"/>
          <a:lstStyle/>
          <a:p>
            <a:pPr algn="ctr" indent="0" marL="0">
              <a:buNone/>
            </a:pPr>
            <a:r>
              <a:rPr lang="en-US" sz="1250" b="1" dirty="0">
                <a:solidFill>
                  <a:srgbClr val="FB4E0B"/>
                </a:solidFill>
                <a:latin typeface="Calibri" pitchFamily="34" charset="0"/>
                <a:ea typeface="Calibri" pitchFamily="34" charset="-122"/>
                <a:cs typeface="Calibri" pitchFamily="34" charset="-120"/>
              </a:rPr>
              <a:t>Conflicting</a:t>
            </a:r>
            <a:endParaRPr lang="en-US" sz="1250" dirty="0"/>
          </a:p>
        </p:txBody>
      </p:sp>
      <p:sp>
        <p:nvSpPr>
          <p:cNvPr id="13" name="Shape 10"/>
          <p:cNvSpPr/>
          <p:nvPr/>
        </p:nvSpPr>
        <p:spPr>
          <a:xfrm>
            <a:off x="841248" y="3236976"/>
            <a:ext cx="2286000" cy="457200"/>
          </a:xfrm>
          <a:prstGeom prst="roundRect">
            <a:avLst>
              <a:gd name="adj" fmla="val 20000"/>
            </a:avLst>
          </a:prstGeom>
          <a:solidFill>
            <a:srgbClr val="FFFFFF"/>
          </a:solidFill>
          <a:ln w="12700">
            <a:solidFill>
              <a:srgbClr val="FB4E0B"/>
            </a:solidFill>
            <a:prstDash val="solid"/>
          </a:ln>
        </p:spPr>
      </p:sp>
      <p:sp>
        <p:nvSpPr>
          <p:cNvPr id="14" name="Text 11"/>
          <p:cNvSpPr/>
          <p:nvPr/>
        </p:nvSpPr>
        <p:spPr>
          <a:xfrm>
            <a:off x="841248" y="3236976"/>
            <a:ext cx="2286000" cy="457200"/>
          </a:xfrm>
          <a:prstGeom prst="rect">
            <a:avLst/>
          </a:prstGeom>
          <a:noFill/>
          <a:ln/>
        </p:spPr>
        <p:txBody>
          <a:bodyPr wrap="square" lIns="0" tIns="0" rIns="0" bIns="0" rtlCol="0" anchor="ctr"/>
          <a:lstStyle/>
          <a:p>
            <a:pPr algn="ctr" indent="0" marL="0">
              <a:buNone/>
            </a:pPr>
            <a:r>
              <a:rPr lang="en-US" sz="1250" b="1" dirty="0">
                <a:solidFill>
                  <a:srgbClr val="FB4E0B"/>
                </a:solidFill>
                <a:latin typeface="Calibri" pitchFamily="34" charset="0"/>
                <a:ea typeface="Calibri" pitchFamily="34" charset="-122"/>
                <a:cs typeface="Calibri" pitchFamily="34" charset="-120"/>
              </a:rPr>
              <a:t>Outdated</a:t>
            </a:r>
            <a:endParaRPr lang="en-US" sz="1250" dirty="0"/>
          </a:p>
        </p:txBody>
      </p:sp>
      <p:sp>
        <p:nvSpPr>
          <p:cNvPr id="15" name="Shape 12"/>
          <p:cNvSpPr/>
          <p:nvPr/>
        </p:nvSpPr>
        <p:spPr>
          <a:xfrm>
            <a:off x="3310128" y="3236976"/>
            <a:ext cx="2286000" cy="457200"/>
          </a:xfrm>
          <a:prstGeom prst="roundRect">
            <a:avLst>
              <a:gd name="adj" fmla="val 20000"/>
            </a:avLst>
          </a:prstGeom>
          <a:solidFill>
            <a:srgbClr val="FFFFFF"/>
          </a:solidFill>
          <a:ln w="12700">
            <a:solidFill>
              <a:srgbClr val="FB4E0B"/>
            </a:solidFill>
            <a:prstDash val="solid"/>
          </a:ln>
        </p:spPr>
      </p:sp>
      <p:sp>
        <p:nvSpPr>
          <p:cNvPr id="16" name="Text 13"/>
          <p:cNvSpPr/>
          <p:nvPr/>
        </p:nvSpPr>
        <p:spPr>
          <a:xfrm>
            <a:off x="3310128" y="3236976"/>
            <a:ext cx="2286000" cy="457200"/>
          </a:xfrm>
          <a:prstGeom prst="rect">
            <a:avLst/>
          </a:prstGeom>
          <a:noFill/>
          <a:ln/>
        </p:spPr>
        <p:txBody>
          <a:bodyPr wrap="square" lIns="0" tIns="0" rIns="0" bIns="0" rtlCol="0" anchor="ctr"/>
          <a:lstStyle/>
          <a:p>
            <a:pPr algn="ctr" indent="0" marL="0">
              <a:buNone/>
            </a:pPr>
            <a:r>
              <a:rPr lang="en-US" sz="1250" b="1" dirty="0">
                <a:solidFill>
                  <a:srgbClr val="FB4E0B"/>
                </a:solidFill>
                <a:latin typeface="Calibri" pitchFamily="34" charset="0"/>
                <a:ea typeface="Calibri" pitchFamily="34" charset="-122"/>
                <a:cs typeface="Calibri" pitchFamily="34" charset="-120"/>
              </a:rPr>
              <a:t>Uncertain</a:t>
            </a:r>
            <a:endParaRPr lang="en-US" sz="1250" dirty="0"/>
          </a:p>
        </p:txBody>
      </p:sp>
      <p:sp>
        <p:nvSpPr>
          <p:cNvPr id="17" name="Text 14"/>
          <p:cNvSpPr/>
          <p:nvPr/>
        </p:nvSpPr>
        <p:spPr>
          <a:xfrm>
            <a:off x="841248" y="3858768"/>
            <a:ext cx="4892040" cy="292608"/>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No unsupported recommendation is produced.</a:t>
            </a:r>
            <a:endParaRPr lang="en-US" sz="1250" dirty="0"/>
          </a:p>
        </p:txBody>
      </p:sp>
      <p:sp>
        <p:nvSpPr>
          <p:cNvPr id="18" name="Shape 15"/>
          <p:cNvSpPr/>
          <p:nvPr/>
        </p:nvSpPr>
        <p:spPr>
          <a:xfrm>
            <a:off x="6199632" y="1572768"/>
            <a:ext cx="5440680" cy="2578608"/>
          </a:xfrm>
          <a:prstGeom prst="roundRect">
            <a:avLst>
              <a:gd name="adj" fmla="val 2128"/>
            </a:avLst>
          </a:prstGeom>
          <a:solidFill>
            <a:srgbClr val="DCF3FA"/>
          </a:solidFill>
          <a:ln w="9525">
            <a:solidFill>
              <a:srgbClr val="B3D9E8"/>
            </a:solidFill>
            <a:prstDash val="solid"/>
          </a:ln>
        </p:spPr>
      </p:sp>
      <p:sp>
        <p:nvSpPr>
          <p:cNvPr id="19" name="Text 16"/>
          <p:cNvSpPr/>
          <p:nvPr/>
        </p:nvSpPr>
        <p:spPr>
          <a:xfrm>
            <a:off x="6473952" y="1773936"/>
            <a:ext cx="4937760" cy="292608"/>
          </a:xfrm>
          <a:prstGeom prst="rect">
            <a:avLst/>
          </a:prstGeom>
          <a:noFill/>
          <a:ln/>
        </p:spPr>
        <p:txBody>
          <a:bodyPr wrap="square" lIns="0" tIns="0" rIns="0" bIns="0" rtlCol="0" anchor="ctr"/>
          <a:lstStyle/>
          <a:p>
            <a:pPr algn="l" indent="0" marL="0">
              <a:buNone/>
            </a:pPr>
            <a:r>
              <a:rPr lang="en-US" sz="1500" b="1" dirty="0">
                <a:solidFill>
                  <a:srgbClr val="005071"/>
                </a:solidFill>
                <a:latin typeface="Calibri" pitchFamily="34" charset="0"/>
                <a:ea typeface="Calibri" pitchFamily="34" charset="-122"/>
                <a:cs typeface="Calibri" pitchFamily="34" charset="-120"/>
              </a:rPr>
              <a:t>What happens instead</a:t>
            </a:r>
            <a:endParaRPr lang="en-US" sz="1500" dirty="0"/>
          </a:p>
        </p:txBody>
      </p:sp>
      <p:sp>
        <p:nvSpPr>
          <p:cNvPr id="20" name="Text 17"/>
          <p:cNvSpPr/>
          <p:nvPr/>
        </p:nvSpPr>
        <p:spPr>
          <a:xfrm>
            <a:off x="6473952" y="2194560"/>
            <a:ext cx="4892040" cy="20116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Creates a targeted request for the exact evidence needed — not a generic follow-up</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Names the specific document, value or date that is missing</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Routes the case for human review with the gap made explicit</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Re-evaluates automatically once the evidence arrives</a:t>
            </a:r>
            <a:endParaRPr lang="en-US" sz="1200" dirty="0"/>
          </a:p>
        </p:txBody>
      </p:sp>
      <p:sp>
        <p:nvSpPr>
          <p:cNvPr id="21" name="Shape 18"/>
          <p:cNvSpPr/>
          <p:nvPr/>
        </p:nvSpPr>
        <p:spPr>
          <a:xfrm>
            <a:off x="566928" y="4443984"/>
            <a:ext cx="11073384" cy="1042416"/>
          </a:xfrm>
          <a:prstGeom prst="roundRect">
            <a:avLst>
              <a:gd name="adj" fmla="val 4386"/>
            </a:avLst>
          </a:prstGeom>
          <a:solidFill>
            <a:srgbClr val="005071"/>
          </a:solidFill>
          <a:ln w="12700">
            <a:solidFill>
              <a:srgbClr val="005071"/>
            </a:solidFill>
            <a:prstDash val="solid"/>
          </a:ln>
        </p:spPr>
      </p:sp>
      <p:sp>
        <p:nvSpPr>
          <p:cNvPr id="22" name="Text 19"/>
          <p:cNvSpPr/>
          <p:nvPr/>
        </p:nvSpPr>
        <p:spPr>
          <a:xfrm>
            <a:off x="868680" y="4608576"/>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 principle</a:t>
            </a:r>
            <a:endParaRPr lang="en-US" sz="1300" dirty="0"/>
          </a:p>
        </p:txBody>
      </p:sp>
      <p:sp>
        <p:nvSpPr>
          <p:cNvPr id="23" name="Text 20"/>
          <p:cNvSpPr/>
          <p:nvPr/>
        </p:nvSpPr>
        <p:spPr>
          <a:xfrm>
            <a:off x="868680" y="4919472"/>
            <a:ext cx="10424160" cy="384048"/>
          </a:xfrm>
          <a:prstGeom prst="rect">
            <a:avLst/>
          </a:prstGeom>
          <a:noFill/>
          <a:ln/>
        </p:spPr>
        <p:txBody>
          <a:bodyPr wrap="square" lIns="0" tIns="0" rIns="0" bIns="0" rtlCol="0" anchor="ctr"/>
          <a:lstStyle/>
          <a:p>
            <a:pPr indent="0" marL="0">
              <a:buNone/>
            </a:pPr>
            <a:r>
              <a:rPr lang="en-US" sz="1250" dirty="0">
                <a:solidFill>
                  <a:srgbClr val="DCF3FA"/>
                </a:solidFill>
                <a:latin typeface="Calibri" pitchFamily="34" charset="0"/>
                <a:ea typeface="Calibri" pitchFamily="34" charset="-122"/>
                <a:cs typeface="Calibri" pitchFamily="34" charset="-120"/>
              </a:rPr>
              <a:t>An honest “we need more evidence” is more valuable to an underwriter than a confident guess.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06  ·  THE DECISION PACKET</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What the Reviewer Receives — and Controls</a:t>
            </a:r>
            <a:endParaRPr lang="en-US" sz="3000" dirty="0"/>
          </a:p>
        </p:txBody>
      </p:sp>
      <p:sp>
        <p:nvSpPr>
          <p:cNvPr id="4" name="Text 2"/>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7</a:t>
            </a:r>
            <a:endParaRPr lang="en-US" sz="800" dirty="0"/>
          </a:p>
        </p:txBody>
      </p:sp>
      <p:pic>
        <p:nvPicPr>
          <p:cNvPr id="5"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6" name="Shape 3"/>
          <p:cNvSpPr/>
          <p:nvPr/>
        </p:nvSpPr>
        <p:spPr>
          <a:xfrm>
            <a:off x="566928" y="1572768"/>
            <a:ext cx="6035040" cy="2788920"/>
          </a:xfrm>
          <a:prstGeom prst="roundRect">
            <a:avLst>
              <a:gd name="adj" fmla="val 1967"/>
            </a:avLst>
          </a:prstGeom>
          <a:solidFill>
            <a:srgbClr val="DCF3FA"/>
          </a:solidFill>
          <a:ln w="9525">
            <a:solidFill>
              <a:srgbClr val="B3D9E8"/>
            </a:solidFill>
            <a:prstDash val="solid"/>
          </a:ln>
        </p:spPr>
      </p:sp>
      <p:sp>
        <p:nvSpPr>
          <p:cNvPr id="7" name="Text 4"/>
          <p:cNvSpPr/>
          <p:nvPr/>
        </p:nvSpPr>
        <p:spPr>
          <a:xfrm>
            <a:off x="841248" y="1773936"/>
            <a:ext cx="5486400" cy="292608"/>
          </a:xfrm>
          <a:prstGeom prst="rect">
            <a:avLst/>
          </a:prstGeom>
          <a:noFill/>
          <a:ln/>
        </p:spPr>
        <p:txBody>
          <a:bodyPr wrap="square" lIns="0" tIns="0" rIns="0" bIns="0" rtlCol="0" anchor="ctr"/>
          <a:lstStyle/>
          <a:p>
            <a:pPr algn="l" indent="0" marL="0">
              <a:buNone/>
            </a:pPr>
            <a:r>
              <a:rPr lang="en-US" sz="1500" b="1" dirty="0">
                <a:solidFill>
                  <a:srgbClr val="005071"/>
                </a:solidFill>
                <a:latin typeface="Calibri" pitchFamily="34" charset="0"/>
                <a:ea typeface="Calibri" pitchFamily="34" charset="-122"/>
                <a:cs typeface="Calibri" pitchFamily="34" charset="-120"/>
              </a:rPr>
              <a:t>Inside the Decision Packet</a:t>
            </a:r>
            <a:endParaRPr lang="en-US" sz="1500" dirty="0"/>
          </a:p>
        </p:txBody>
      </p:sp>
      <p:sp>
        <p:nvSpPr>
          <p:cNvPr id="8" name="Shape 5"/>
          <p:cNvSpPr/>
          <p:nvPr/>
        </p:nvSpPr>
        <p:spPr>
          <a:xfrm>
            <a:off x="841248" y="2249424"/>
            <a:ext cx="237744" cy="237744"/>
          </a:xfrm>
          <a:prstGeom prst="ellipse">
            <a:avLst/>
          </a:prstGeom>
          <a:solidFill>
            <a:srgbClr val="FB4E0B"/>
          </a:solidFill>
          <a:ln w="12700">
            <a:solidFill>
              <a:srgbClr val="FB4E0B"/>
            </a:solidFill>
            <a:prstDash val="solid"/>
          </a:ln>
        </p:spPr>
      </p:sp>
      <p:sp>
        <p:nvSpPr>
          <p:cNvPr id="9" name="Text 6"/>
          <p:cNvSpPr/>
          <p:nvPr/>
        </p:nvSpPr>
        <p:spPr>
          <a:xfrm>
            <a:off x="1188720" y="2194560"/>
            <a:ext cx="2377440" cy="347472"/>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Case summary</a:t>
            </a:r>
            <a:endParaRPr lang="en-US" sz="1250" dirty="0"/>
          </a:p>
        </p:txBody>
      </p:sp>
      <p:sp>
        <p:nvSpPr>
          <p:cNvPr id="10" name="Shape 7"/>
          <p:cNvSpPr/>
          <p:nvPr/>
        </p:nvSpPr>
        <p:spPr>
          <a:xfrm>
            <a:off x="3675888" y="2249424"/>
            <a:ext cx="237744" cy="237744"/>
          </a:xfrm>
          <a:prstGeom prst="ellipse">
            <a:avLst/>
          </a:prstGeom>
          <a:solidFill>
            <a:srgbClr val="FB4E0B"/>
          </a:solidFill>
          <a:ln w="12700">
            <a:solidFill>
              <a:srgbClr val="FB4E0B"/>
            </a:solidFill>
            <a:prstDash val="solid"/>
          </a:ln>
        </p:spPr>
      </p:sp>
      <p:sp>
        <p:nvSpPr>
          <p:cNvPr id="11" name="Text 8"/>
          <p:cNvSpPr/>
          <p:nvPr/>
        </p:nvSpPr>
        <p:spPr>
          <a:xfrm>
            <a:off x="4023360" y="2194560"/>
            <a:ext cx="2377440" cy="347472"/>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Relevant findings</a:t>
            </a:r>
            <a:endParaRPr lang="en-US" sz="1250" dirty="0"/>
          </a:p>
        </p:txBody>
      </p:sp>
      <p:sp>
        <p:nvSpPr>
          <p:cNvPr id="12" name="Shape 9"/>
          <p:cNvSpPr/>
          <p:nvPr/>
        </p:nvSpPr>
        <p:spPr>
          <a:xfrm>
            <a:off x="841248" y="2999232"/>
            <a:ext cx="237744" cy="237744"/>
          </a:xfrm>
          <a:prstGeom prst="ellipse">
            <a:avLst/>
          </a:prstGeom>
          <a:solidFill>
            <a:srgbClr val="FB4E0B"/>
          </a:solidFill>
          <a:ln w="12700">
            <a:solidFill>
              <a:srgbClr val="FB4E0B"/>
            </a:solidFill>
            <a:prstDash val="solid"/>
          </a:ln>
        </p:spPr>
      </p:sp>
      <p:sp>
        <p:nvSpPr>
          <p:cNvPr id="13" name="Text 10"/>
          <p:cNvSpPr/>
          <p:nvPr/>
        </p:nvSpPr>
        <p:spPr>
          <a:xfrm>
            <a:off x="1188720" y="2944368"/>
            <a:ext cx="2377440" cy="347472"/>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Source citations</a:t>
            </a:r>
            <a:endParaRPr lang="en-US" sz="1250" dirty="0"/>
          </a:p>
        </p:txBody>
      </p:sp>
      <p:sp>
        <p:nvSpPr>
          <p:cNvPr id="14" name="Shape 11"/>
          <p:cNvSpPr/>
          <p:nvPr/>
        </p:nvSpPr>
        <p:spPr>
          <a:xfrm>
            <a:off x="3675888" y="2999232"/>
            <a:ext cx="237744" cy="237744"/>
          </a:xfrm>
          <a:prstGeom prst="ellipse">
            <a:avLst/>
          </a:prstGeom>
          <a:solidFill>
            <a:srgbClr val="FB4E0B"/>
          </a:solidFill>
          <a:ln w="12700">
            <a:solidFill>
              <a:srgbClr val="FB4E0B"/>
            </a:solidFill>
            <a:prstDash val="solid"/>
          </a:ln>
        </p:spPr>
      </p:sp>
      <p:sp>
        <p:nvSpPr>
          <p:cNvPr id="15" name="Text 12"/>
          <p:cNvSpPr/>
          <p:nvPr/>
        </p:nvSpPr>
        <p:spPr>
          <a:xfrm>
            <a:off x="4023360" y="2944368"/>
            <a:ext cx="2377440" cy="347472"/>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Triggered rules</a:t>
            </a:r>
            <a:endParaRPr lang="en-US" sz="1250" dirty="0"/>
          </a:p>
        </p:txBody>
      </p:sp>
      <p:sp>
        <p:nvSpPr>
          <p:cNvPr id="16" name="Shape 13"/>
          <p:cNvSpPr/>
          <p:nvPr/>
        </p:nvSpPr>
        <p:spPr>
          <a:xfrm>
            <a:off x="841248" y="3749040"/>
            <a:ext cx="237744" cy="237744"/>
          </a:xfrm>
          <a:prstGeom prst="ellipse">
            <a:avLst/>
          </a:prstGeom>
          <a:solidFill>
            <a:srgbClr val="FB4E0B"/>
          </a:solidFill>
          <a:ln w="12700">
            <a:solidFill>
              <a:srgbClr val="FB4E0B"/>
            </a:solidFill>
            <a:prstDash val="solid"/>
          </a:ln>
        </p:spPr>
      </p:sp>
      <p:sp>
        <p:nvSpPr>
          <p:cNvPr id="17" name="Text 14"/>
          <p:cNvSpPr/>
          <p:nvPr/>
        </p:nvSpPr>
        <p:spPr>
          <a:xfrm>
            <a:off x="1188720" y="3694176"/>
            <a:ext cx="2377440" cy="347472"/>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Required actions</a:t>
            </a:r>
            <a:endParaRPr lang="en-US" sz="1250" dirty="0"/>
          </a:p>
        </p:txBody>
      </p:sp>
      <p:sp>
        <p:nvSpPr>
          <p:cNvPr id="18" name="Shape 15"/>
          <p:cNvSpPr/>
          <p:nvPr/>
        </p:nvSpPr>
        <p:spPr>
          <a:xfrm>
            <a:off x="3675888" y="3749040"/>
            <a:ext cx="237744" cy="237744"/>
          </a:xfrm>
          <a:prstGeom prst="ellipse">
            <a:avLst/>
          </a:prstGeom>
          <a:solidFill>
            <a:srgbClr val="FB4E0B"/>
          </a:solidFill>
          <a:ln w="12700">
            <a:solidFill>
              <a:srgbClr val="FB4E0B"/>
            </a:solidFill>
            <a:prstDash val="solid"/>
          </a:ln>
        </p:spPr>
      </p:sp>
      <p:sp>
        <p:nvSpPr>
          <p:cNvPr id="19" name="Text 16"/>
          <p:cNvSpPr/>
          <p:nvPr/>
        </p:nvSpPr>
        <p:spPr>
          <a:xfrm>
            <a:off x="4023360" y="3694176"/>
            <a:ext cx="2377440" cy="347472"/>
          </a:xfrm>
          <a:prstGeom prst="rect">
            <a:avLst/>
          </a:prstGeom>
          <a:noFill/>
          <a:ln/>
        </p:spPr>
        <p:txBody>
          <a:bodyPr wrap="square" lIns="0" tIns="0" rIns="0" bIns="0" rtlCol="0" anchor="ctr"/>
          <a:lstStyle/>
          <a:p>
            <a:pPr indent="0" marL="0">
              <a:buNone/>
            </a:pPr>
            <a:r>
              <a:rPr lang="en-US" sz="1250" b="1" dirty="0">
                <a:solidFill>
                  <a:srgbClr val="005071"/>
                </a:solidFill>
                <a:latin typeface="Calibri" pitchFamily="34" charset="0"/>
                <a:ea typeface="Calibri" pitchFamily="34" charset="-122"/>
                <a:cs typeface="Calibri" pitchFamily="34" charset="-120"/>
              </a:rPr>
              <a:t>Recommended disposition</a:t>
            </a:r>
            <a:endParaRPr lang="en-US" sz="1250" dirty="0"/>
          </a:p>
        </p:txBody>
      </p:sp>
      <p:sp>
        <p:nvSpPr>
          <p:cNvPr id="20" name="Shape 17"/>
          <p:cNvSpPr/>
          <p:nvPr/>
        </p:nvSpPr>
        <p:spPr>
          <a:xfrm>
            <a:off x="6793992" y="1572768"/>
            <a:ext cx="4846320" cy="2788920"/>
          </a:xfrm>
          <a:prstGeom prst="roundRect">
            <a:avLst>
              <a:gd name="adj" fmla="val 1967"/>
            </a:avLst>
          </a:prstGeom>
          <a:solidFill>
            <a:srgbClr val="EEF9FD"/>
          </a:solidFill>
          <a:ln w="9525">
            <a:solidFill>
              <a:srgbClr val="B3D9E8"/>
            </a:solidFill>
            <a:prstDash val="solid"/>
          </a:ln>
        </p:spPr>
      </p:sp>
      <p:sp>
        <p:nvSpPr>
          <p:cNvPr id="21" name="Text 18"/>
          <p:cNvSpPr/>
          <p:nvPr/>
        </p:nvSpPr>
        <p:spPr>
          <a:xfrm>
            <a:off x="7068312" y="1773936"/>
            <a:ext cx="4389120" cy="292608"/>
          </a:xfrm>
          <a:prstGeom prst="rect">
            <a:avLst/>
          </a:prstGeom>
          <a:noFill/>
          <a:ln/>
        </p:spPr>
        <p:txBody>
          <a:bodyPr wrap="square" lIns="0" tIns="0" rIns="0" bIns="0" rtlCol="0" anchor="ctr"/>
          <a:lstStyle/>
          <a:p>
            <a:pPr algn="l" indent="0" marL="0">
              <a:buNone/>
            </a:pPr>
            <a:r>
              <a:rPr lang="en-US" sz="1500" b="1" dirty="0">
                <a:solidFill>
                  <a:srgbClr val="005071"/>
                </a:solidFill>
                <a:latin typeface="Calibri" pitchFamily="34" charset="0"/>
                <a:ea typeface="Calibri" pitchFamily="34" charset="-122"/>
                <a:cs typeface="Calibri" pitchFamily="34" charset="-120"/>
              </a:rPr>
              <a:t>The reviewer stays in control</a:t>
            </a:r>
            <a:endParaRPr lang="en-US" sz="1500" dirty="0"/>
          </a:p>
        </p:txBody>
      </p:sp>
      <p:sp>
        <p:nvSpPr>
          <p:cNvPr id="22" name="Text 19"/>
          <p:cNvSpPr/>
          <p:nvPr/>
        </p:nvSpPr>
        <p:spPr>
          <a:xfrm>
            <a:off x="7068312" y="2212848"/>
            <a:ext cx="4343400" cy="22860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Approve the recommendation</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Modify the terms</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Override the outcome</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Request additional information</a:t>
            </a:r>
            <a:endParaRPr lang="en-US" sz="1200" dirty="0"/>
          </a:p>
          <a:p>
            <a:pPr marL="342900" indent="-342900">
              <a:lnSpc>
                <a:spcPct val="105000"/>
              </a:lnSpc>
              <a:spcAft>
                <a:spcPts val="500"/>
              </a:spcAft>
              <a:buSzPct val="100000"/>
              <a:buChar char="•"/>
            </a:pPr>
            <a:r>
              <a:rPr lang="en-US" sz="1200" dirty="0">
                <a:solidFill>
                  <a:srgbClr val="2E3643"/>
                </a:solidFill>
                <a:latin typeface="Calibri" pitchFamily="34" charset="0"/>
                <a:ea typeface="Calibri" pitchFamily="34" charset="-122"/>
                <a:cs typeface="Calibri" pitchFamily="34" charset="-120"/>
              </a:rPr>
              <a:t>Escalate — senior underwriter, medical reviewer, SIU or legal</a:t>
            </a:r>
            <a:endParaRPr lang="en-US" sz="1200" dirty="0"/>
          </a:p>
        </p:txBody>
      </p:sp>
      <p:sp>
        <p:nvSpPr>
          <p:cNvPr id="23" name="Shape 20"/>
          <p:cNvSpPr/>
          <p:nvPr/>
        </p:nvSpPr>
        <p:spPr>
          <a:xfrm>
            <a:off x="566928" y="4645152"/>
            <a:ext cx="11073384" cy="713232"/>
          </a:xfrm>
          <a:prstGeom prst="roundRect">
            <a:avLst>
              <a:gd name="adj" fmla="val 6410"/>
            </a:avLst>
          </a:prstGeom>
          <a:solidFill>
            <a:srgbClr val="DCF3FA"/>
          </a:solidFill>
          <a:ln w="9525">
            <a:solidFill>
              <a:srgbClr val="B3D9E8"/>
            </a:solidFill>
            <a:prstDash val="solid"/>
          </a:ln>
        </p:spPr>
      </p:sp>
      <p:sp>
        <p:nvSpPr>
          <p:cNvPr id="24" name="Text 21"/>
          <p:cNvSpPr/>
          <p:nvPr/>
        </p:nvSpPr>
        <p:spPr>
          <a:xfrm>
            <a:off x="566928" y="4645152"/>
            <a:ext cx="11073384" cy="713232"/>
          </a:xfrm>
          <a:prstGeom prst="rect">
            <a:avLst/>
          </a:prstGeom>
          <a:noFill/>
          <a:ln/>
        </p:spPr>
        <p:txBody>
          <a:bodyPr wrap="square" lIns="0" tIns="0" rIns="0" bIns="0" rtlCol="0" anchor="ctr"/>
          <a:lstStyle/>
          <a:p>
            <a:pPr algn="ctr" indent="0" marL="0">
              <a:buNone/>
            </a:pPr>
            <a:r>
              <a:rPr lang="en-US" sz="1250" b="1" dirty="0">
                <a:solidFill>
                  <a:srgbClr val="005071"/>
                </a:solidFill>
                <a:latin typeface="Calibri" pitchFamily="34" charset="0"/>
                <a:ea typeface="Calibri" pitchFamily="34" charset="-122"/>
                <a:cs typeface="Calibri" pitchFamily="34" charset="-120"/>
              </a:rPr>
              <a:t>Every packet is a draft for underwriter review — it is not an approval, decline, or binding decision.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9184"/>
            <a:ext cx="7315200" cy="274320"/>
          </a:xfrm>
          <a:prstGeom prst="rect">
            <a:avLst/>
          </a:prstGeom>
          <a:noFill/>
          <a:ln/>
        </p:spPr>
        <p:txBody>
          <a:bodyPr wrap="square" lIns="0" tIns="0" rIns="0" bIns="0" rtlCol="0" anchor="ctr"/>
          <a:lstStyle/>
          <a:p>
            <a:pPr indent="0" marL="0">
              <a:buNone/>
            </a:pPr>
            <a:r>
              <a:rPr lang="en-US" sz="1100" b="1" spc="200" kern="0" dirty="0">
                <a:solidFill>
                  <a:srgbClr val="FB4E0B"/>
                </a:solidFill>
                <a:latin typeface="Calibri" pitchFamily="34" charset="0"/>
                <a:ea typeface="Calibri" pitchFamily="34" charset="-122"/>
                <a:cs typeface="Calibri" pitchFamily="34" charset="-120"/>
              </a:rPr>
              <a:t>07  ·  BUSINESS IMPACT</a:t>
            </a:r>
            <a:endParaRPr lang="en-US" sz="1100" dirty="0"/>
          </a:p>
        </p:txBody>
      </p:sp>
      <p:sp>
        <p:nvSpPr>
          <p:cNvPr id="3" name="Text 1"/>
          <p:cNvSpPr/>
          <p:nvPr/>
        </p:nvSpPr>
        <p:spPr>
          <a:xfrm>
            <a:off x="548640" y="621792"/>
            <a:ext cx="11064240" cy="566928"/>
          </a:xfrm>
          <a:prstGeom prst="rect">
            <a:avLst/>
          </a:prstGeom>
          <a:noFill/>
          <a:ln/>
        </p:spPr>
        <p:txBody>
          <a:bodyPr wrap="square" lIns="0" tIns="0" rIns="0" bIns="0" rtlCol="0" anchor="ctr"/>
          <a:lstStyle/>
          <a:p>
            <a:pPr indent="0" marL="0">
              <a:buNone/>
            </a:pPr>
            <a:r>
              <a:rPr lang="en-US" sz="3000" dirty="0">
                <a:solidFill>
                  <a:srgbClr val="005071"/>
                </a:solidFill>
                <a:latin typeface="Calibri Light" pitchFamily="34" charset="0"/>
                <a:ea typeface="Calibri Light" pitchFamily="34" charset="-122"/>
                <a:cs typeface="Calibri Light" pitchFamily="34" charset="-120"/>
              </a:rPr>
              <a:t>Faster, More Consistent, Audit-Ready</a:t>
            </a:r>
            <a:endParaRPr lang="en-US" sz="3000" dirty="0"/>
          </a:p>
        </p:txBody>
      </p:sp>
      <p:sp>
        <p:nvSpPr>
          <p:cNvPr id="4" name="Text 2"/>
          <p:cNvSpPr/>
          <p:nvPr/>
        </p:nvSpPr>
        <p:spPr>
          <a:xfrm>
            <a:off x="7315200" y="6382512"/>
            <a:ext cx="3657600" cy="219456"/>
          </a:xfrm>
          <a:prstGeom prst="rect">
            <a:avLst/>
          </a:prstGeom>
          <a:noFill/>
          <a:ln/>
        </p:spPr>
        <p:txBody>
          <a:bodyPr wrap="square" lIns="0" tIns="0" rIns="0" bIns="0" rtlCol="0" anchor="ctr"/>
          <a:lstStyle/>
          <a:p>
            <a:pPr algn="r" indent="0" marL="0">
              <a:buNone/>
            </a:pPr>
            <a:r>
              <a:rPr lang="en-US" sz="800" dirty="0">
                <a:solidFill>
                  <a:srgbClr val="6C727B"/>
                </a:solidFill>
                <a:latin typeface="Calibri" pitchFamily="34" charset="0"/>
                <a:ea typeface="Calibri" pitchFamily="34" charset="-122"/>
                <a:cs typeface="Calibri" pitchFamily="34" charset="-120"/>
              </a:rPr>
              <a:t>©2026 ExlService Holdings, Inc. All rights reserved.  </a:t>
            </a:r>
            <a:pPr algn="r" indent="0" marL="0">
              <a:buNone/>
            </a:pPr>
            <a:r>
              <a:rPr lang="en-US" sz="800" dirty="0">
                <a:solidFill>
                  <a:srgbClr val="FB4E0B"/>
                </a:solidFill>
                <a:latin typeface="Calibri" pitchFamily="34" charset="0"/>
                <a:ea typeface="Calibri" pitchFamily="34" charset="-122"/>
                <a:cs typeface="Calibri" pitchFamily="34" charset="-120"/>
              </a:rPr>
              <a:t>8</a:t>
            </a:r>
            <a:endParaRPr lang="en-US" sz="800" dirty="0"/>
          </a:p>
        </p:txBody>
      </p:sp>
      <p:pic>
        <p:nvPicPr>
          <p:cNvPr id="5" name="Image 0" descr="exl_logo.png">    </p:cNvPr>
          <p:cNvPicPr>
            <a:picLocks noChangeAspect="1"/>
          </p:cNvPicPr>
          <p:nvPr/>
        </p:nvPicPr>
        <p:blipFill>
          <a:blip r:embed="rId1"/>
          <a:stretch>
            <a:fillRect/>
          </a:stretch>
        </p:blipFill>
        <p:spPr>
          <a:xfrm>
            <a:off x="11201400" y="6272784"/>
            <a:ext cx="566928" cy="365760"/>
          </a:xfrm>
          <a:prstGeom prst="rect">
            <a:avLst/>
          </a:prstGeom>
        </p:spPr>
      </p:pic>
      <p:sp>
        <p:nvSpPr>
          <p:cNvPr id="6" name="Shape 3"/>
          <p:cNvSpPr/>
          <p:nvPr/>
        </p:nvSpPr>
        <p:spPr>
          <a:xfrm>
            <a:off x="566928" y="1627632"/>
            <a:ext cx="2679192" cy="1572768"/>
          </a:xfrm>
          <a:prstGeom prst="roundRect">
            <a:avLst>
              <a:gd name="adj" fmla="val 3488"/>
            </a:avLst>
          </a:prstGeom>
          <a:solidFill>
            <a:srgbClr val="DCF3FA"/>
          </a:solidFill>
          <a:ln w="9525">
            <a:solidFill>
              <a:srgbClr val="B3D9E8"/>
            </a:solidFill>
            <a:prstDash val="solid"/>
          </a:ln>
        </p:spPr>
      </p:sp>
      <p:sp>
        <p:nvSpPr>
          <p:cNvPr id="7" name="Text 4"/>
          <p:cNvSpPr/>
          <p:nvPr/>
        </p:nvSpPr>
        <p:spPr>
          <a:xfrm>
            <a:off x="749808" y="1792224"/>
            <a:ext cx="2313432" cy="402336"/>
          </a:xfrm>
          <a:prstGeom prst="rect">
            <a:avLst/>
          </a:prstGeom>
          <a:noFill/>
          <a:ln/>
        </p:spPr>
        <p:txBody>
          <a:bodyPr wrap="square" lIns="0" tIns="0" rIns="0" bIns="0" rtlCol="0" anchor="t"/>
          <a:lstStyle/>
          <a:p>
            <a:pPr indent="0" marL="0">
              <a:buNone/>
            </a:pPr>
            <a:r>
              <a:rPr lang="en-US" sz="1400" b="1" dirty="0">
                <a:solidFill>
                  <a:srgbClr val="FB4E0B"/>
                </a:solidFill>
                <a:latin typeface="Calibri" pitchFamily="34" charset="0"/>
                <a:ea typeface="Calibri" pitchFamily="34" charset="-122"/>
                <a:cs typeface="Calibri" pitchFamily="34" charset="-120"/>
              </a:rPr>
              <a:t>Less manual review</a:t>
            </a:r>
            <a:endParaRPr lang="en-US" sz="1400" dirty="0"/>
          </a:p>
        </p:txBody>
      </p:sp>
      <p:sp>
        <p:nvSpPr>
          <p:cNvPr id="8" name="Text 5"/>
          <p:cNvSpPr/>
          <p:nvPr/>
        </p:nvSpPr>
        <p:spPr>
          <a:xfrm>
            <a:off x="749808" y="2212848"/>
            <a:ext cx="2313432" cy="896112"/>
          </a:xfrm>
          <a:prstGeom prst="rect">
            <a:avLst/>
          </a:prstGeom>
          <a:noFill/>
          <a:ln/>
        </p:spPr>
        <p:txBody>
          <a:bodyPr wrap="square" lIns="0" tIns="0" rIns="0" bIns="0" rtlCol="0" anchor="t"/>
          <a:lstStyle/>
          <a:p>
            <a:pPr indent="0" marL="0">
              <a:buNone/>
            </a:pPr>
            <a:r>
              <a:rPr lang="en-US" sz="1150" dirty="0">
                <a:solidFill>
                  <a:srgbClr val="2E3643"/>
                </a:solidFill>
                <a:latin typeface="Calibri" pitchFamily="34" charset="0"/>
                <a:ea typeface="Calibri" pitchFamily="34" charset="-122"/>
                <a:cs typeface="Calibri" pitchFamily="34" charset="-120"/>
              </a:rPr>
              <a:t>Reviewers stop re-reading files to find the same facts.</a:t>
            </a:r>
            <a:endParaRPr lang="en-US" sz="1150" dirty="0"/>
          </a:p>
        </p:txBody>
      </p:sp>
      <p:sp>
        <p:nvSpPr>
          <p:cNvPr id="9" name="Shape 6"/>
          <p:cNvSpPr/>
          <p:nvPr/>
        </p:nvSpPr>
        <p:spPr>
          <a:xfrm>
            <a:off x="3364992" y="1627632"/>
            <a:ext cx="2679192" cy="1572768"/>
          </a:xfrm>
          <a:prstGeom prst="roundRect">
            <a:avLst>
              <a:gd name="adj" fmla="val 3488"/>
            </a:avLst>
          </a:prstGeom>
          <a:solidFill>
            <a:srgbClr val="DCF3FA"/>
          </a:solidFill>
          <a:ln w="9525">
            <a:solidFill>
              <a:srgbClr val="B3D9E8"/>
            </a:solidFill>
            <a:prstDash val="solid"/>
          </a:ln>
        </p:spPr>
      </p:sp>
      <p:sp>
        <p:nvSpPr>
          <p:cNvPr id="10" name="Text 7"/>
          <p:cNvSpPr/>
          <p:nvPr/>
        </p:nvSpPr>
        <p:spPr>
          <a:xfrm>
            <a:off x="3547872" y="1792224"/>
            <a:ext cx="2313432" cy="402336"/>
          </a:xfrm>
          <a:prstGeom prst="rect">
            <a:avLst/>
          </a:prstGeom>
          <a:noFill/>
          <a:ln/>
        </p:spPr>
        <p:txBody>
          <a:bodyPr wrap="square" lIns="0" tIns="0" rIns="0" bIns="0" rtlCol="0" anchor="t"/>
          <a:lstStyle/>
          <a:p>
            <a:pPr indent="0" marL="0">
              <a:buNone/>
            </a:pPr>
            <a:r>
              <a:rPr lang="en-US" sz="1400" b="1" dirty="0">
                <a:solidFill>
                  <a:srgbClr val="FB4E0B"/>
                </a:solidFill>
                <a:latin typeface="Calibri" pitchFamily="34" charset="0"/>
                <a:ea typeface="Calibri" pitchFamily="34" charset="-122"/>
                <a:cs typeface="Calibri" pitchFamily="34" charset="-120"/>
              </a:rPr>
              <a:t>Consistent decisions</a:t>
            </a:r>
            <a:endParaRPr lang="en-US" sz="1400" dirty="0"/>
          </a:p>
        </p:txBody>
      </p:sp>
      <p:sp>
        <p:nvSpPr>
          <p:cNvPr id="11" name="Text 8"/>
          <p:cNvSpPr/>
          <p:nvPr/>
        </p:nvSpPr>
        <p:spPr>
          <a:xfrm>
            <a:off x="3547872" y="2212848"/>
            <a:ext cx="2313432" cy="896112"/>
          </a:xfrm>
          <a:prstGeom prst="rect">
            <a:avLst/>
          </a:prstGeom>
          <a:noFill/>
          <a:ln/>
        </p:spPr>
        <p:txBody>
          <a:bodyPr wrap="square" lIns="0" tIns="0" rIns="0" bIns="0" rtlCol="0" anchor="t"/>
          <a:lstStyle/>
          <a:p>
            <a:pPr indent="0" marL="0">
              <a:buNone/>
            </a:pPr>
            <a:r>
              <a:rPr lang="en-US" sz="1150" dirty="0">
                <a:solidFill>
                  <a:srgbClr val="2E3643"/>
                </a:solidFill>
                <a:latin typeface="Calibri" pitchFamily="34" charset="0"/>
                <a:ea typeface="Calibri" pitchFamily="34" charset="-122"/>
                <a:cs typeface="Calibri" pitchFamily="34" charset="-120"/>
              </a:rPr>
              <a:t>The same evidence produces the same structured summary every time.</a:t>
            </a:r>
            <a:endParaRPr lang="en-US" sz="1150" dirty="0"/>
          </a:p>
        </p:txBody>
      </p:sp>
      <p:sp>
        <p:nvSpPr>
          <p:cNvPr id="12" name="Shape 9"/>
          <p:cNvSpPr/>
          <p:nvPr/>
        </p:nvSpPr>
        <p:spPr>
          <a:xfrm>
            <a:off x="6163056" y="1627632"/>
            <a:ext cx="2679192" cy="1572768"/>
          </a:xfrm>
          <a:prstGeom prst="roundRect">
            <a:avLst>
              <a:gd name="adj" fmla="val 3488"/>
            </a:avLst>
          </a:prstGeom>
          <a:solidFill>
            <a:srgbClr val="DCF3FA"/>
          </a:solidFill>
          <a:ln w="9525">
            <a:solidFill>
              <a:srgbClr val="B3D9E8"/>
            </a:solidFill>
            <a:prstDash val="solid"/>
          </a:ln>
        </p:spPr>
      </p:sp>
      <p:sp>
        <p:nvSpPr>
          <p:cNvPr id="13" name="Text 10"/>
          <p:cNvSpPr/>
          <p:nvPr/>
        </p:nvSpPr>
        <p:spPr>
          <a:xfrm>
            <a:off x="6345936" y="1792224"/>
            <a:ext cx="2313432" cy="402336"/>
          </a:xfrm>
          <a:prstGeom prst="rect">
            <a:avLst/>
          </a:prstGeom>
          <a:noFill/>
          <a:ln/>
        </p:spPr>
        <p:txBody>
          <a:bodyPr wrap="square" lIns="0" tIns="0" rIns="0" bIns="0" rtlCol="0" anchor="t"/>
          <a:lstStyle/>
          <a:p>
            <a:pPr indent="0" marL="0">
              <a:buNone/>
            </a:pPr>
            <a:r>
              <a:rPr lang="en-US" sz="1400" b="1" dirty="0">
                <a:solidFill>
                  <a:srgbClr val="FB4E0B"/>
                </a:solidFill>
                <a:latin typeface="Calibri" pitchFamily="34" charset="0"/>
                <a:ea typeface="Calibri" pitchFamily="34" charset="-122"/>
                <a:cs typeface="Calibri" pitchFamily="34" charset="-120"/>
              </a:rPr>
              <a:t>Faster turnaround</a:t>
            </a:r>
            <a:endParaRPr lang="en-US" sz="1400" dirty="0"/>
          </a:p>
        </p:txBody>
      </p:sp>
      <p:sp>
        <p:nvSpPr>
          <p:cNvPr id="14" name="Text 11"/>
          <p:cNvSpPr/>
          <p:nvPr/>
        </p:nvSpPr>
        <p:spPr>
          <a:xfrm>
            <a:off x="6345936" y="2212848"/>
            <a:ext cx="2313432" cy="896112"/>
          </a:xfrm>
          <a:prstGeom prst="rect">
            <a:avLst/>
          </a:prstGeom>
          <a:noFill/>
          <a:ln/>
        </p:spPr>
        <p:txBody>
          <a:bodyPr wrap="square" lIns="0" tIns="0" rIns="0" bIns="0" rtlCol="0" anchor="t"/>
          <a:lstStyle/>
          <a:p>
            <a:pPr indent="0" marL="0">
              <a:buNone/>
            </a:pPr>
            <a:r>
              <a:rPr lang="en-US" sz="1150" dirty="0">
                <a:solidFill>
                  <a:srgbClr val="2E3643"/>
                </a:solidFill>
                <a:latin typeface="Calibri" pitchFamily="34" charset="0"/>
                <a:ea typeface="Calibri" pitchFamily="34" charset="-122"/>
                <a:cs typeface="Calibri" pitchFamily="34" charset="-120"/>
              </a:rPr>
              <a:t>Cases reach a reviewer already assembled and cited.</a:t>
            </a:r>
            <a:endParaRPr lang="en-US" sz="1150" dirty="0"/>
          </a:p>
        </p:txBody>
      </p:sp>
      <p:sp>
        <p:nvSpPr>
          <p:cNvPr id="15" name="Shape 12"/>
          <p:cNvSpPr/>
          <p:nvPr/>
        </p:nvSpPr>
        <p:spPr>
          <a:xfrm>
            <a:off x="8961120" y="1627632"/>
            <a:ext cx="2679192" cy="1572768"/>
          </a:xfrm>
          <a:prstGeom prst="roundRect">
            <a:avLst>
              <a:gd name="adj" fmla="val 3488"/>
            </a:avLst>
          </a:prstGeom>
          <a:solidFill>
            <a:srgbClr val="DCF3FA"/>
          </a:solidFill>
          <a:ln w="9525">
            <a:solidFill>
              <a:srgbClr val="B3D9E8"/>
            </a:solidFill>
            <a:prstDash val="solid"/>
          </a:ln>
        </p:spPr>
      </p:sp>
      <p:sp>
        <p:nvSpPr>
          <p:cNvPr id="16" name="Text 13"/>
          <p:cNvSpPr/>
          <p:nvPr/>
        </p:nvSpPr>
        <p:spPr>
          <a:xfrm>
            <a:off x="9144000" y="1792224"/>
            <a:ext cx="2313432" cy="402336"/>
          </a:xfrm>
          <a:prstGeom prst="rect">
            <a:avLst/>
          </a:prstGeom>
          <a:noFill/>
          <a:ln/>
        </p:spPr>
        <p:txBody>
          <a:bodyPr wrap="square" lIns="0" tIns="0" rIns="0" bIns="0" rtlCol="0" anchor="t"/>
          <a:lstStyle/>
          <a:p>
            <a:pPr indent="0" marL="0">
              <a:buNone/>
            </a:pPr>
            <a:r>
              <a:rPr lang="en-US" sz="1400" b="1" dirty="0">
                <a:solidFill>
                  <a:srgbClr val="FB4E0B"/>
                </a:solidFill>
                <a:latin typeface="Calibri" pitchFamily="34" charset="0"/>
                <a:ea typeface="Calibri" pitchFamily="34" charset="-122"/>
                <a:cs typeface="Calibri" pitchFamily="34" charset="-120"/>
              </a:rPr>
              <a:t>Audit-ready by default</a:t>
            </a:r>
            <a:endParaRPr lang="en-US" sz="1400" dirty="0"/>
          </a:p>
        </p:txBody>
      </p:sp>
      <p:sp>
        <p:nvSpPr>
          <p:cNvPr id="17" name="Text 14"/>
          <p:cNvSpPr/>
          <p:nvPr/>
        </p:nvSpPr>
        <p:spPr>
          <a:xfrm>
            <a:off x="9144000" y="2212848"/>
            <a:ext cx="2313432" cy="896112"/>
          </a:xfrm>
          <a:prstGeom prst="rect">
            <a:avLst/>
          </a:prstGeom>
          <a:noFill/>
          <a:ln/>
        </p:spPr>
        <p:txBody>
          <a:bodyPr wrap="square" lIns="0" tIns="0" rIns="0" bIns="0" rtlCol="0" anchor="t"/>
          <a:lstStyle/>
          <a:p>
            <a:pPr indent="0" marL="0">
              <a:buNone/>
            </a:pPr>
            <a:r>
              <a:rPr lang="en-US" sz="1150" dirty="0">
                <a:solidFill>
                  <a:srgbClr val="2E3643"/>
                </a:solidFill>
                <a:latin typeface="Calibri" pitchFamily="34" charset="0"/>
                <a:ea typeface="Calibri" pitchFamily="34" charset="-122"/>
                <a:cs typeface="Calibri" pitchFamily="34" charset="-120"/>
              </a:rPr>
              <a:t>Source citations and rule versions are captured as the packet is built.</a:t>
            </a:r>
            <a:endParaRPr lang="en-US" sz="1150" dirty="0"/>
          </a:p>
        </p:txBody>
      </p:sp>
      <p:sp>
        <p:nvSpPr>
          <p:cNvPr id="18" name="Shape 15"/>
          <p:cNvSpPr/>
          <p:nvPr/>
        </p:nvSpPr>
        <p:spPr>
          <a:xfrm>
            <a:off x="566928" y="3419856"/>
            <a:ext cx="11073384" cy="969264"/>
          </a:xfrm>
          <a:prstGeom prst="roundRect">
            <a:avLst>
              <a:gd name="adj" fmla="val 5660"/>
            </a:avLst>
          </a:prstGeom>
          <a:solidFill>
            <a:srgbClr val="EEF9FD"/>
          </a:solidFill>
          <a:ln w="9525">
            <a:solidFill>
              <a:srgbClr val="B3D9E8"/>
            </a:solidFill>
            <a:prstDash val="solid"/>
          </a:ln>
        </p:spPr>
      </p:sp>
      <p:sp>
        <p:nvSpPr>
          <p:cNvPr id="19" name="Text 16"/>
          <p:cNvSpPr/>
          <p:nvPr/>
        </p:nvSpPr>
        <p:spPr>
          <a:xfrm>
            <a:off x="841248" y="3566160"/>
            <a:ext cx="3108960" cy="274320"/>
          </a:xfrm>
          <a:prstGeom prst="rect">
            <a:avLst/>
          </a:prstGeom>
          <a:noFill/>
          <a:ln/>
        </p:spPr>
        <p:txBody>
          <a:bodyPr wrap="square" lIns="0" tIns="0" rIns="0" bIns="0" rtlCol="0" anchor="ctr"/>
          <a:lstStyle/>
          <a:p>
            <a:pPr indent="0" marL="0">
              <a:buNone/>
            </a:pPr>
            <a:r>
              <a:rPr lang="en-US" sz="1350" b="1" dirty="0">
                <a:solidFill>
                  <a:srgbClr val="005071"/>
                </a:solidFill>
                <a:latin typeface="Calibri" pitchFamily="34" charset="0"/>
                <a:ea typeface="Calibri" pitchFamily="34" charset="-122"/>
                <a:cs typeface="Calibri" pitchFamily="34" charset="-120"/>
              </a:rPr>
              <a:t>Start focused, then scale</a:t>
            </a:r>
            <a:endParaRPr lang="en-US" sz="1350" dirty="0"/>
          </a:p>
        </p:txBody>
      </p:sp>
      <p:sp>
        <p:nvSpPr>
          <p:cNvPr id="20" name="Text 17"/>
          <p:cNvSpPr/>
          <p:nvPr/>
        </p:nvSpPr>
        <p:spPr>
          <a:xfrm>
            <a:off x="841248" y="3858768"/>
            <a:ext cx="10515600" cy="475488"/>
          </a:xfrm>
          <a:prstGeom prst="rect">
            <a:avLst/>
          </a:prstGeom>
          <a:noFill/>
          <a:ln/>
        </p:spPr>
        <p:txBody>
          <a:bodyPr wrap="square" lIns="0" tIns="0" rIns="0" bIns="0" rtlCol="0" anchor="t"/>
          <a:lstStyle/>
          <a:p>
            <a:pPr indent="0" marL="0">
              <a:buNone/>
            </a:pPr>
            <a:r>
              <a:rPr lang="en-US" sz="1200" dirty="0">
                <a:solidFill>
                  <a:srgbClr val="2E3643"/>
                </a:solidFill>
                <a:latin typeface="Calibri" pitchFamily="34" charset="0"/>
                <a:ea typeface="Calibri" pitchFamily="34" charset="-122"/>
                <a:cs typeface="Calibri" pitchFamily="34" charset="-120"/>
              </a:rPr>
              <a:t>Begin as a focused proof of value, then scale across underwriting and claims workflows through integrations with policy, claims, document-management and data platforms.</a:t>
            </a:r>
            <a:endParaRPr lang="en-US" sz="1200" dirty="0"/>
          </a:p>
        </p:txBody>
      </p:sp>
      <p:sp>
        <p:nvSpPr>
          <p:cNvPr id="21" name="Shape 18"/>
          <p:cNvSpPr/>
          <p:nvPr/>
        </p:nvSpPr>
        <p:spPr>
          <a:xfrm>
            <a:off x="566928" y="4626864"/>
            <a:ext cx="11073384" cy="841248"/>
          </a:xfrm>
          <a:prstGeom prst="roundRect">
            <a:avLst>
              <a:gd name="adj" fmla="val 5435"/>
            </a:avLst>
          </a:prstGeom>
          <a:solidFill>
            <a:srgbClr val="005071"/>
          </a:solidFill>
          <a:ln w="12700">
            <a:solidFill>
              <a:srgbClr val="005071"/>
            </a:solidFill>
            <a:prstDash val="solid"/>
          </a:ln>
        </p:spPr>
      </p:sp>
      <p:sp>
        <p:nvSpPr>
          <p:cNvPr id="22" name="Text 19"/>
          <p:cNvSpPr/>
          <p:nvPr/>
        </p:nvSpPr>
        <p:spPr>
          <a:xfrm>
            <a:off x="822960" y="4626864"/>
            <a:ext cx="10561320" cy="8412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Decision Packet Automation turns fragmented insurance documents into a clear, traceable, reviewer-ready decision experience.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Packet Automation for Life Underwriting</dc:title>
  <dc:subject>PptxGenJS Presentation</dc:subject>
  <dc:creator>EXL</dc:creator>
  <cp:lastModifiedBy>EXL</cp:lastModifiedBy>
  <cp:revision>1</cp:revision>
  <dcterms:created xsi:type="dcterms:W3CDTF">2026-08-20T11:39:07Z</dcterms:created>
  <dcterms:modified xsi:type="dcterms:W3CDTF">2026-08-20T11:39:07Z</dcterms:modified>
</cp:coreProperties>
</file>